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htE0lr89iFIDoXqoug/0THnn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Junho</a:t>
            </a:r>
            <a:r>
              <a:rPr lang="en-US" sz="900" dirty="0"/>
              <a:t> </a:t>
            </a:r>
            <a:r>
              <a:rPr lang="en-US" sz="900" dirty="0" err="1"/>
              <a:t>foi</a:t>
            </a:r>
            <a:r>
              <a:rPr lang="en-US" sz="900" dirty="0"/>
              <a:t> um </a:t>
            </a:r>
            <a:r>
              <a:rPr lang="en-US" sz="900" dirty="0" err="1"/>
              <a:t>mês</a:t>
            </a:r>
            <a:r>
              <a:rPr lang="en-US" sz="900" dirty="0"/>
              <a:t> de </a:t>
            </a:r>
            <a:r>
              <a:rPr lang="en-US" sz="900" dirty="0" err="1"/>
              <a:t>baixa</a:t>
            </a:r>
            <a:r>
              <a:rPr lang="en-US" sz="900" dirty="0"/>
              <a:t> </a:t>
            </a:r>
            <a:r>
              <a:rPr lang="en-US" sz="900" dirty="0" err="1"/>
              <a:t>movimentação</a:t>
            </a:r>
            <a:r>
              <a:rPr lang="en-US" sz="900" dirty="0"/>
              <a:t>: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novas</a:t>
            </a:r>
            <a:r>
              <a:rPr lang="en-US" sz="900" dirty="0"/>
              <a:t> </a:t>
            </a:r>
            <a:r>
              <a:rPr lang="en-US" sz="900" dirty="0" err="1"/>
              <a:t>parcelas</a:t>
            </a:r>
            <a:r>
              <a:rPr lang="en-US" sz="900" dirty="0"/>
              <a:t> </a:t>
            </a:r>
            <a:r>
              <a:rPr lang="en-US" sz="900" dirty="0" err="1"/>
              <a:t>recebidas</a:t>
            </a:r>
            <a:r>
              <a:rPr lang="en-US" sz="900" dirty="0"/>
              <a:t> e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aquisições</a:t>
            </a:r>
            <a:r>
              <a:rPr lang="en-US" sz="900" dirty="0"/>
              <a:t> </a:t>
            </a:r>
            <a:r>
              <a:rPr lang="en-US" sz="900" dirty="0" err="1"/>
              <a:t>relevantes</a:t>
            </a:r>
            <a:r>
              <a:rPr lang="en-US" sz="900" dirty="0"/>
              <a:t>. Entradas </a:t>
            </a:r>
            <a:r>
              <a:rPr lang="en-US" sz="900" dirty="0" err="1"/>
              <a:t>limitadas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</a:t>
            </a:r>
            <a:r>
              <a:rPr lang="en-US" sz="900" dirty="0" err="1"/>
              <a:t>rendimento</a:t>
            </a:r>
            <a:r>
              <a:rPr lang="en-US" sz="900" dirty="0"/>
              <a:t> de </a:t>
            </a:r>
            <a:r>
              <a:rPr lang="en-US" sz="900" dirty="0" err="1"/>
              <a:t>aplicação</a:t>
            </a:r>
            <a:r>
              <a:rPr lang="en-US" sz="900" dirty="0"/>
              <a:t> </a:t>
            </a:r>
            <a:r>
              <a:rPr lang="en-US" sz="900" dirty="0" err="1"/>
              <a:t>financeira</a:t>
            </a:r>
            <a:r>
              <a:rPr lang="en-US" sz="900" dirty="0"/>
              <a:t> (R$ 5.401,30). </a:t>
            </a:r>
            <a:r>
              <a:rPr lang="en-US" sz="900" dirty="0" err="1"/>
              <a:t>Saldo</a:t>
            </a:r>
            <a:r>
              <a:rPr lang="en-US" sz="900" dirty="0"/>
              <a:t> em </a:t>
            </a:r>
            <a:r>
              <a:rPr lang="en-US" sz="900" dirty="0" err="1"/>
              <a:t>caixa</a:t>
            </a:r>
            <a:r>
              <a:rPr lang="en-US" sz="900" dirty="0"/>
              <a:t> </a:t>
            </a:r>
            <a:r>
              <a:rPr lang="en-US" sz="900" dirty="0" err="1"/>
              <a:t>cresceu</a:t>
            </a:r>
            <a:r>
              <a:rPr lang="en-US" sz="900" dirty="0"/>
              <a:t> para R$ 628.706,56.</a:t>
            </a:r>
            <a:endParaRPr sz="900" dirty="0"/>
          </a:p>
        </p:txBody>
      </p:sp>
      <p:sp>
        <p:nvSpPr>
          <p:cNvPr id="195" name="Google Shape;195;p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Nenhuma</a:t>
            </a:r>
            <a:r>
              <a:rPr lang="en-US" sz="900" dirty="0"/>
              <a:t> nova </a:t>
            </a:r>
            <a:r>
              <a:rPr lang="en-US" sz="900" dirty="0" err="1"/>
              <a:t>parcela</a:t>
            </a:r>
            <a:r>
              <a:rPr lang="en-US" sz="900" dirty="0"/>
              <a:t> </a:t>
            </a:r>
            <a:r>
              <a:rPr lang="en-US" sz="900" dirty="0" err="1"/>
              <a:t>recebida</a:t>
            </a:r>
            <a:r>
              <a:rPr lang="en-US" sz="900" dirty="0"/>
              <a:t> em </a:t>
            </a:r>
            <a:r>
              <a:rPr lang="en-US" sz="900" dirty="0" err="1"/>
              <a:t>junho</a:t>
            </a:r>
            <a:r>
              <a:rPr lang="en-US" sz="900" dirty="0"/>
              <a:t>. Total </a:t>
            </a:r>
            <a:r>
              <a:rPr lang="en-US" sz="900" dirty="0" err="1"/>
              <a:t>recebido</a:t>
            </a:r>
            <a:r>
              <a:rPr lang="en-US" sz="900" dirty="0"/>
              <a:t> </a:t>
            </a:r>
            <a:r>
              <a:rPr lang="en-US" sz="900" dirty="0" err="1"/>
              <a:t>mantém</a:t>
            </a:r>
            <a:r>
              <a:rPr lang="en-US" sz="900" dirty="0"/>
              <a:t>-se em R$ 2.161.631,23 (4 de 7 </a:t>
            </a:r>
            <a:r>
              <a:rPr lang="en-US" sz="900" dirty="0" err="1"/>
              <a:t>parcelas</a:t>
            </a:r>
            <a:r>
              <a:rPr lang="en-US" sz="900" dirty="0"/>
              <a:t>). </a:t>
            </a:r>
            <a:r>
              <a:rPr lang="en-US" sz="900" dirty="0" err="1"/>
              <a:t>Parcelas</a:t>
            </a:r>
            <a:r>
              <a:rPr lang="en-US" sz="900" dirty="0"/>
              <a:t> 05, 06 e 07 </a:t>
            </a:r>
            <a:r>
              <a:rPr lang="en-US" sz="900" dirty="0" err="1"/>
              <a:t>pendentes</a:t>
            </a:r>
            <a:r>
              <a:rPr lang="en-US" sz="900" dirty="0"/>
              <a:t> </a:t>
            </a:r>
            <a:r>
              <a:rPr lang="en-US" sz="900" dirty="0" err="1"/>
              <a:t>conforme</a:t>
            </a:r>
            <a:r>
              <a:rPr lang="en-US" sz="900" dirty="0"/>
              <a:t> </a:t>
            </a:r>
            <a:r>
              <a:rPr lang="en-US" sz="900" dirty="0" err="1"/>
              <a:t>cronograma</a:t>
            </a:r>
            <a:r>
              <a:rPr lang="en-US" sz="900" dirty="0"/>
              <a:t> de </a:t>
            </a:r>
            <a:r>
              <a:rPr lang="en-US" sz="900" dirty="0" err="1"/>
              <a:t>faturamento</a:t>
            </a:r>
            <a:r>
              <a:rPr lang="en-US" sz="900" dirty="0"/>
              <a:t> da NANSEN.</a:t>
            </a:r>
            <a:endParaRPr sz="900" dirty="0"/>
          </a:p>
        </p:txBody>
      </p:sp>
      <p:sp>
        <p:nvSpPr>
          <p:cNvPr id="284" name="Google Shape;284;p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Execução acumulada de 58,4% do orçamento. Junho de baixa movimentação — entradas limitadas ao rendimento financeiro. Cronograma físico aderente (SPI ≈ 1,0).</a:t>
            </a:r>
            <a:endParaRPr sz="900"/>
          </a:p>
        </p:txBody>
      </p:sp>
      <p:sp>
        <p:nvSpPr>
          <p:cNvPr id="372" name="Google Shape;372;p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Macro 02 </a:t>
            </a:r>
            <a:r>
              <a:rPr lang="en-US" sz="900" dirty="0" err="1"/>
              <a:t>concluída</a:t>
            </a:r>
            <a:r>
              <a:rPr lang="en-US" sz="900" dirty="0"/>
              <a:t> (</a:t>
            </a:r>
            <a:r>
              <a:rPr lang="en-US" sz="900" dirty="0" err="1"/>
              <a:t>Documento</a:t>
            </a:r>
            <a:r>
              <a:rPr lang="en-US" sz="900" dirty="0"/>
              <a:t> de </a:t>
            </a:r>
            <a:r>
              <a:rPr lang="en-US" sz="900" dirty="0" err="1"/>
              <a:t>Requisitos</a:t>
            </a:r>
            <a:r>
              <a:rPr lang="en-US" sz="900" dirty="0"/>
              <a:t> </a:t>
            </a:r>
            <a:r>
              <a:rPr lang="en-US" sz="900" dirty="0" err="1"/>
              <a:t>consolidado</a:t>
            </a:r>
            <a:r>
              <a:rPr lang="en-US" sz="900" dirty="0"/>
              <a:t> e PoC </a:t>
            </a:r>
            <a:r>
              <a:rPr lang="en-US" sz="900" dirty="0" err="1"/>
              <a:t>implantada</a:t>
            </a:r>
            <a:r>
              <a:rPr lang="en-US" sz="900" dirty="0"/>
              <a:t>). Macro 03 </a:t>
            </a:r>
            <a:r>
              <a:rPr lang="en-US" sz="900" dirty="0" err="1"/>
              <a:t>iniciada</a:t>
            </a:r>
            <a:r>
              <a:rPr lang="en-US" sz="900" dirty="0"/>
              <a:t> e em franco </a:t>
            </a:r>
            <a:r>
              <a:rPr lang="en-US" sz="900" dirty="0" err="1"/>
              <a:t>avanço</a:t>
            </a:r>
            <a:r>
              <a:rPr lang="en-US" sz="900" dirty="0"/>
              <a:t> com a </a:t>
            </a:r>
            <a:r>
              <a:rPr lang="en-US" sz="900" dirty="0" err="1"/>
              <a:t>integração</a:t>
            </a:r>
            <a:r>
              <a:rPr lang="en-US" sz="900" dirty="0"/>
              <a:t> </a:t>
            </a:r>
            <a:r>
              <a:rPr lang="en-US" sz="900" dirty="0" err="1"/>
              <a:t>ML+Back-end+Agents</a:t>
            </a:r>
            <a:r>
              <a:rPr lang="en-US" sz="900" dirty="0"/>
              <a:t> e deploy no </a:t>
            </a:r>
            <a:r>
              <a:rPr lang="en-US" sz="900" dirty="0" err="1"/>
              <a:t>servidor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413" name="Google Shape;413;p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5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Junho: consolidação da integração ML+Back-end+Agents e implantação da PoC no servidor. Status geral verde, com atenção à performance do banco de dados e ao consumo energético.</a:t>
            </a:r>
            <a:endParaRPr sz="900"/>
          </a:p>
        </p:txBody>
      </p:sp>
      <p:sp>
        <p:nvSpPr>
          <p:cNvPr id="475" name="Google Shape;475;p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Front-end: escopo da Proposta 11 (multi-tenant) consolidado e interface redesenhada. Pronta para consumir as rotas de agentes (cards e chat).</a:t>
            </a:r>
            <a:endParaRPr sz="900"/>
          </a:p>
        </p:txBody>
      </p:sp>
      <p:sp>
        <p:nvSpPr>
          <p:cNvPr id="506" name="Google Shape;506;p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7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Back-end: PoC implantada no servidor e integrada aos agentes após correção de bugs (variáveis de ambiente e prompt padrão). Gargalos de performance identificados — otimização de BD é o foco dos próximos passos.</a:t>
            </a:r>
            <a:endParaRPr sz="900"/>
          </a:p>
        </p:txBody>
      </p:sp>
      <p:sp>
        <p:nvSpPr>
          <p:cNvPr id="531" name="Google Shape;531;p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8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p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ML/DL: </a:t>
            </a:r>
            <a:r>
              <a:rPr lang="en-US" sz="900" dirty="0" err="1"/>
              <a:t>integração</a:t>
            </a:r>
            <a:r>
              <a:rPr lang="en-US" sz="900" dirty="0"/>
              <a:t> com Back-end e Agents </a:t>
            </a:r>
            <a:r>
              <a:rPr lang="en-US" sz="900" dirty="0" err="1"/>
              <a:t>bem-sucedida</a:t>
            </a:r>
            <a:r>
              <a:rPr lang="en-US" sz="900" dirty="0"/>
              <a:t> e </a:t>
            </a:r>
            <a:r>
              <a:rPr lang="en-US" sz="900" dirty="0" err="1"/>
              <a:t>modelo</a:t>
            </a:r>
            <a:r>
              <a:rPr lang="en-US" sz="900" dirty="0"/>
              <a:t> em </a:t>
            </a:r>
            <a:r>
              <a:rPr lang="en-US" sz="900" dirty="0" err="1"/>
              <a:t>produção</a:t>
            </a:r>
            <a:r>
              <a:rPr lang="en-US" sz="900" dirty="0"/>
              <a:t>. </a:t>
            </a:r>
            <a:r>
              <a:rPr lang="en-US" sz="900" dirty="0" err="1"/>
              <a:t>Foco</a:t>
            </a:r>
            <a:r>
              <a:rPr lang="en-US" sz="900" dirty="0"/>
              <a:t> em </a:t>
            </a:r>
            <a:r>
              <a:rPr lang="en-US" sz="900" dirty="0" err="1"/>
              <a:t>calibração</a:t>
            </a:r>
            <a:r>
              <a:rPr lang="en-US" sz="900" dirty="0"/>
              <a:t> das </a:t>
            </a:r>
            <a:r>
              <a:rPr lang="en-US" sz="900" dirty="0" err="1"/>
              <a:t>probabilidades</a:t>
            </a:r>
            <a:r>
              <a:rPr lang="en-US" sz="900" dirty="0"/>
              <a:t>, testes com LSTM e </a:t>
            </a:r>
            <a:r>
              <a:rPr lang="en-US" sz="900" dirty="0" err="1"/>
              <a:t>estudo</a:t>
            </a:r>
            <a:r>
              <a:rPr lang="en-US" sz="900" dirty="0"/>
              <a:t> do </a:t>
            </a:r>
            <a:r>
              <a:rPr lang="en-US" sz="900" dirty="0" err="1"/>
              <a:t>OpenDSS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552" name="Google Shape;552;p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1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Agentes de IA: integração na versão 2 com agentes monitor, relator e RAG. Arquitetura multimodelo — modelo mais eficiente para análise/relato e o de menor latência para o RAG.</a:t>
            </a:r>
            <a:endParaRPr sz="900"/>
          </a:p>
        </p:txBody>
      </p:sp>
      <p:sp>
        <p:nvSpPr>
          <p:cNvPr id="578" name="Google Shape;578;p1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7" name="Google Shape;597;p1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DevOps: comparativo de consumo por modelo de LLM e evolução do consumo energético por sprint — aumento de 30% frente à média anterior, subsidiando o dimensionamento de energia e hardware.</a:t>
            </a:r>
            <a:endParaRPr sz="900"/>
          </a:p>
        </p:txBody>
      </p:sp>
      <p:sp>
        <p:nvSpPr>
          <p:cNvPr id="598" name="Google Shape;598;p1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11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Pesquisa Científica: validação dos dados e da integração agente–IA, apoio regulatório (NBR 16968, IEC 62056/DLMS) e disponibilização de informações sobre o OpenDSS.</a:t>
            </a:r>
            <a:endParaRPr sz="900"/>
          </a:p>
        </p:txBody>
      </p:sp>
      <p:sp>
        <p:nvSpPr>
          <p:cNvPr id="637" name="Google Shape;637;p1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1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PI em </a:t>
            </a:r>
            <a:r>
              <a:rPr lang="en-US" sz="900" dirty="0" err="1"/>
              <a:t>andamento</a:t>
            </a:r>
            <a:r>
              <a:rPr lang="en-US" sz="900" dirty="0"/>
              <a:t>: </a:t>
            </a:r>
            <a:r>
              <a:rPr lang="en-US" sz="900" dirty="0" err="1"/>
              <a:t>artigo</a:t>
            </a:r>
            <a:r>
              <a:rPr lang="en-US" sz="900" dirty="0"/>
              <a:t> </a:t>
            </a:r>
            <a:r>
              <a:rPr lang="en-US" sz="900" dirty="0" err="1"/>
              <a:t>submetido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IEACON 2026, </a:t>
            </a:r>
            <a:r>
              <a:rPr lang="en-US" sz="900" dirty="0" err="1"/>
              <a:t>artigo</a:t>
            </a:r>
            <a:r>
              <a:rPr lang="en-US" sz="900" dirty="0"/>
              <a:t> do </a:t>
            </a:r>
            <a:r>
              <a:rPr lang="en-US" sz="900" dirty="0" err="1"/>
              <a:t>projeto</a:t>
            </a:r>
            <a:r>
              <a:rPr lang="en-US" sz="900" dirty="0"/>
              <a:t> em </a:t>
            </a:r>
            <a:r>
              <a:rPr lang="en-US" sz="900" dirty="0" err="1"/>
              <a:t>revisão</a:t>
            </a:r>
            <a:r>
              <a:rPr lang="en-US" sz="900" dirty="0"/>
              <a:t> e </a:t>
            </a:r>
            <a:r>
              <a:rPr lang="en-US" sz="900" dirty="0" err="1"/>
              <a:t>Artigo</a:t>
            </a:r>
            <a:r>
              <a:rPr lang="en-US" sz="900" dirty="0"/>
              <a:t> 04 em </a:t>
            </a:r>
            <a:r>
              <a:rPr lang="en-US" sz="900" dirty="0" err="1"/>
              <a:t>estruturação</a:t>
            </a:r>
            <a:r>
              <a:rPr lang="en-US" sz="900" dirty="0"/>
              <a:t>. </a:t>
            </a:r>
            <a:r>
              <a:rPr lang="en-US" sz="900" dirty="0" err="1"/>
              <a:t>Registro</a:t>
            </a:r>
            <a:r>
              <a:rPr lang="en-US" sz="900" dirty="0"/>
              <a:t> de software junto </a:t>
            </a:r>
            <a:r>
              <a:rPr lang="en-US" sz="900" dirty="0" err="1"/>
              <a:t>ao</a:t>
            </a:r>
            <a:r>
              <a:rPr lang="en-US" sz="900" dirty="0"/>
              <a:t> INPI segue </a:t>
            </a:r>
            <a:r>
              <a:rPr lang="en-US" sz="900" dirty="0" err="1"/>
              <a:t>planejado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661" name="Google Shape;661;p1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9" name="Google Shape;689;p1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Integração</a:t>
            </a:r>
            <a:r>
              <a:rPr lang="en-US" sz="900" dirty="0"/>
              <a:t> via MCP </a:t>
            </a:r>
            <a:r>
              <a:rPr lang="en-US" sz="900" dirty="0" err="1"/>
              <a:t>passa</a:t>
            </a:r>
            <a:r>
              <a:rPr lang="en-US" sz="900" dirty="0"/>
              <a:t> a MITIGADO com a v2 </a:t>
            </a:r>
            <a:r>
              <a:rPr lang="en-US" sz="900" dirty="0" err="1"/>
              <a:t>concluída</a:t>
            </a:r>
            <a:r>
              <a:rPr lang="en-US" sz="900" dirty="0"/>
              <a:t>. </a:t>
            </a:r>
            <a:r>
              <a:rPr lang="en-US" sz="900" dirty="0" err="1"/>
              <a:t>Novos</a:t>
            </a:r>
            <a:r>
              <a:rPr lang="en-US" sz="900" dirty="0"/>
              <a:t> </a:t>
            </a:r>
            <a:r>
              <a:rPr lang="en-US" sz="900" dirty="0" err="1"/>
              <a:t>focos</a:t>
            </a:r>
            <a:r>
              <a:rPr lang="en-US" sz="900" dirty="0"/>
              <a:t> de </a:t>
            </a:r>
            <a:r>
              <a:rPr lang="en-US" sz="900" dirty="0" err="1"/>
              <a:t>monitoramento</a:t>
            </a:r>
            <a:r>
              <a:rPr lang="en-US" sz="900" dirty="0"/>
              <a:t>: performance em </a:t>
            </a:r>
            <a:r>
              <a:rPr lang="en-US" sz="900" dirty="0" err="1"/>
              <a:t>produção</a:t>
            </a:r>
            <a:r>
              <a:rPr lang="en-US" sz="900" dirty="0"/>
              <a:t> e </a:t>
            </a:r>
            <a:r>
              <a:rPr lang="en-US" sz="900" dirty="0" err="1"/>
              <a:t>consumo</a:t>
            </a:r>
            <a:r>
              <a:rPr lang="en-US" sz="900" dirty="0"/>
              <a:t> </a:t>
            </a:r>
            <a:r>
              <a:rPr lang="en-US" sz="900" dirty="0" err="1"/>
              <a:t>energético</a:t>
            </a:r>
            <a:r>
              <a:rPr lang="en-US" sz="900" dirty="0"/>
              <a:t> (novo </a:t>
            </a:r>
            <a:r>
              <a:rPr lang="en-US" sz="900" dirty="0" err="1"/>
              <a:t>risco</a:t>
            </a:r>
            <a:r>
              <a:rPr lang="en-US" sz="900" dirty="0"/>
              <a:t> R08).</a:t>
            </a:r>
            <a:endParaRPr sz="900" dirty="0"/>
          </a:p>
        </p:txBody>
      </p:sp>
      <p:sp>
        <p:nvSpPr>
          <p:cNvPr id="690" name="Google Shape;690;p1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14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1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Todo o acompanhamento — atividades, sprints e evidências — é registrado no OpenProject da INOVA/IFAM.</a:t>
            </a:r>
            <a:endParaRPr sz="900"/>
          </a:p>
        </p:txBody>
      </p:sp>
      <p:sp>
        <p:nvSpPr>
          <p:cNvPr id="764" name="Google Shape;764;p1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15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1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Encaminhamentos por equipe para o próximo ciclo, consolidando as prioridades levantadas na Sprint 9.</a:t>
            </a:r>
            <a:endParaRPr sz="900"/>
          </a:p>
        </p:txBody>
      </p:sp>
      <p:sp>
        <p:nvSpPr>
          <p:cNvPr id="777" name="Google Shape;777;p1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16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3" name="Google Shape;8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10" name="Google Shape;8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20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20" name="Google Shape;20;p20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0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20"/>
          <p:cNvSpPr>
            <a:spLocks noGrp="1"/>
          </p:cNvSpPr>
          <p:nvPr>
            <p:ph type="ctrTitle"/>
          </p:nvPr>
        </p:nvSpPr>
        <p:spPr>
          <a:xfrm>
            <a:off x="2772360" y="3240743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>
            <a:spLocks noGrp="1"/>
          </p:cNvSpPr>
          <p:nvPr>
            <p:ph type="subTitle" idx="1"/>
          </p:nvPr>
        </p:nvSpPr>
        <p:spPr>
          <a:xfrm>
            <a:off x="3203848" y="4217290"/>
            <a:ext cx="5256584" cy="584592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4437" y="1753931"/>
            <a:ext cx="4819141" cy="133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conteúdo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457200" y="84355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4" name="Google Shape;34;p22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2"/>
          <p:cNvCxnSpPr/>
          <p:nvPr/>
        </p:nvCxnSpPr>
        <p:spPr>
          <a:xfrm>
            <a:off x="457200" y="699542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" name="Google Shape;36;p22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37" name="Google Shape;37;p22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2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2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2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2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2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2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2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2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2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2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2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2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2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2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2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2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2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2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2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2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2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>
            <a:spLocks noGrp="1"/>
          </p:cNvSpPr>
          <p:nvPr>
            <p:ph type="title"/>
          </p:nvPr>
        </p:nvSpPr>
        <p:spPr>
          <a:xfrm>
            <a:off x="2001985" y="1779662"/>
            <a:ext cx="5402836" cy="1027540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>
            <a:spLocks noGrp="1"/>
          </p:cNvSpPr>
          <p:nvPr>
            <p:ph type="body" idx="1"/>
          </p:nvPr>
        </p:nvSpPr>
        <p:spPr>
          <a:xfrm>
            <a:off x="2530555" y="2942483"/>
            <a:ext cx="5256584" cy="584593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70" name="Google Shape;70;p23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3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23"/>
          <p:cNvGrpSpPr/>
          <p:nvPr/>
        </p:nvGrpSpPr>
        <p:grpSpPr>
          <a:xfrm>
            <a:off x="280020" y="195486"/>
            <a:ext cx="2491780" cy="648072"/>
            <a:chOff x="68" y="3004"/>
            <a:chExt cx="719" cy="187"/>
          </a:xfrm>
        </p:grpSpPr>
        <p:sp>
          <p:nvSpPr>
            <p:cNvPr id="74" name="Google Shape;74;p23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3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3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3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3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3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07" name="Google Shape;107;p24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ção" type="twoTxTwoObj">
  <p:cSld name="TWO_OBJECTS_WITH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17" name="Google Shape;117;p25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ente título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23" name="Google Shape;123;p26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 branco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‹nº›</a:t>
            </a:fld>
            <a:endParaRPr sz="1200" b="1" i="0" u="none" strike="noStrike" cap="none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7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132" name="Google Shape;132;p27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údo com Legenda" type="objTx">
  <p:cSld name="OBJECT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m com Legenda" type="picTx">
  <p:cSld name="PICTURE_WITH_CAPTION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l" type="vertTx">
  <p:cSld name="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is" type="vertTitleAndTx">
  <p:cSld name="VERTICAL_TITLE_AND_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5" name="Google Shape;15;p19"/>
          <p:cNvPicPr preferRelativeResize="0"/>
          <p:nvPr/>
        </p:nvPicPr>
        <p:blipFill rotWithShape="1">
          <a:blip r:embed="rId14">
            <a:alphaModFix amt="20000"/>
          </a:blip>
          <a:srcRect/>
          <a:stretch/>
        </p:blipFill>
        <p:spPr>
          <a:xfrm>
            <a:off x="2987155" y="195486"/>
            <a:ext cx="6065290" cy="453650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>
            <a:spLocks noGrp="1"/>
          </p:cNvSpPr>
          <p:nvPr>
            <p:ph type="ctrTitle"/>
          </p:nvPr>
        </p:nvSpPr>
        <p:spPr>
          <a:xfrm>
            <a:off x="2772360" y="3075806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 Manaus</a:t>
            </a:r>
            <a:endParaRPr sz="2800" i="0"/>
          </a:p>
        </p:txBody>
      </p:sp>
      <p:sp>
        <p:nvSpPr>
          <p:cNvPr id="189" name="Google Shape;189;p1"/>
          <p:cNvSpPr>
            <a:spLocks noGrp="1"/>
          </p:cNvSpPr>
          <p:nvPr>
            <p:ph type="subTitle" idx="1"/>
          </p:nvPr>
        </p:nvSpPr>
        <p:spPr>
          <a:xfrm>
            <a:off x="3203848" y="4011910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i="0" dirty="0">
                <a:solidFill>
                  <a:schemeClr val="dk1"/>
                </a:solidFill>
              </a:rPr>
              <a:t>Conv. 02/2026 – Bio </a:t>
            </a:r>
            <a:r>
              <a:rPr lang="en-US" sz="2000" i="0" dirty="0" err="1">
                <a:solidFill>
                  <a:schemeClr val="dk1"/>
                </a:solidFill>
              </a:rPr>
              <a:t>Caroço</a:t>
            </a:r>
            <a:endParaRPr sz="2400" i="0" dirty="0">
              <a:solidFill>
                <a:schemeClr val="dk1"/>
              </a:solidFill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202672" y="4515966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/2026 a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Fev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/2027 (9 meses)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179499" y="4443950"/>
            <a:ext cx="1590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SETEMBRO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2026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/>
          <p:nvPr/>
        </p:nvSpPr>
        <p:spPr>
          <a:xfrm>
            <a:off x="400028" y="304788"/>
            <a:ext cx="397331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00028" y="471470"/>
            <a:ext cx="3973316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Dashboard de Saúde do Projeto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7333480" y="454572"/>
            <a:ext cx="1410482" cy="259777"/>
          </a:xfrm>
          <a:prstGeom prst="roundRect">
            <a:avLst>
              <a:gd name="adj" fmla="val 14666"/>
            </a:avLst>
          </a:prstGeom>
          <a:solidFill>
            <a:srgbClr val="F1F8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7398129" y="446293"/>
            <a:ext cx="1269633" cy="259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Período</a:t>
            </a:r>
            <a:r>
              <a:rPr lang="en-US" sz="9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900" b="1" i="0" u="none" strike="noStrike" cap="none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Setembro</a:t>
            </a:r>
            <a:r>
              <a:rPr lang="en-US" sz="9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 /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40002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504801" y="971491"/>
            <a:ext cx="1529731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SALDO DISPONÍVEL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504801" y="1147295"/>
            <a:ext cx="1529731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504801" y="1385393"/>
            <a:ext cx="1171599" cy="18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Fechamento em 30/09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2085945" y="857208"/>
            <a:ext cx="1600212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2197334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RECEBIDAS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2197334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R$ 2.526.733,76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2197334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acumuladas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3771863" y="857208"/>
            <a:ext cx="1600238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3883251" y="978106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EXECUTADO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3883251" y="1153909"/>
            <a:ext cx="1515207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R$ 1.992.287,32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3883251" y="1392008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545780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5569195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FINANC.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5569195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R$ 24.343,59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5569195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acumulado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7143724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7255113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ACOMP.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7255113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7255113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12, 13 e 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400028" y="1745863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Execução Orçamentária por Rubrica — Orçamento × Executado × Disponível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400028" y="1935283"/>
            <a:ext cx="834393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476228" y="1992433"/>
            <a:ext cx="2619514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3119346" y="1992433"/>
            <a:ext cx="1497708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Orçamento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4722601" y="1992433"/>
            <a:ext cx="14561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6284343" y="1992433"/>
            <a:ext cx="1456111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Disponível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7854755" y="1992433"/>
            <a:ext cx="813007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Exec.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"/>
          <p:cNvSpPr/>
          <p:nvPr/>
        </p:nvSpPr>
        <p:spPr>
          <a:xfrm>
            <a:off x="400028" y="2407709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476228" y="2229456"/>
            <a:ext cx="2619514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Equip. e/ou Mat. Permanentes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3119346" y="2229456"/>
            <a:ext cx="1497708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834.817,17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4722601" y="2229456"/>
            <a:ext cx="1456192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834.817,17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6284343" y="2229456"/>
            <a:ext cx="1456111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7854755" y="2229456"/>
            <a:ext cx="813007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100,0%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400028" y="2411016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400028" y="2638547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476228" y="2458641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Implantação / Modernização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3119346" y="2458641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148.000,00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722601" y="2458641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117.648,81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6284343" y="2458641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30.351,19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7854755" y="2458641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B8C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DB8C1"/>
                </a:solidFill>
                <a:latin typeface="Arial"/>
                <a:ea typeface="Arial"/>
                <a:cs typeface="Arial"/>
                <a:sym typeface="Arial"/>
              </a:rPr>
              <a:t>79,5%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400028" y="28693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476228" y="2689479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– Bolsa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3119346" y="2689479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1.361.600,00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4722601" y="2689479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564.200,00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6284343" y="2689479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797.400,00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7854755" y="2689479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41,4%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400028" y="2872693"/>
            <a:ext cx="8343935" cy="23083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400028" y="310022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476228" y="2920318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Obrig. Tributárias e Contrib.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3119346" y="2920318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149.853,04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4722601" y="2920318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6284343" y="2920318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149.853,04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"/>
          <p:cNvSpPr/>
          <p:nvPr/>
        </p:nvSpPr>
        <p:spPr>
          <a:xfrm>
            <a:off x="7854755" y="2920318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"/>
          <p:cNvSpPr/>
          <p:nvPr/>
        </p:nvSpPr>
        <p:spPr>
          <a:xfrm>
            <a:off x="400028" y="333106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476228" y="3151157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Operacional, Adm. e Reserva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3119346" y="3151157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453.235,99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4722601" y="3151157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453.235,99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6284343" y="3151157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7854755" y="3151157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100,0%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400028" y="3334370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400028" y="356190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476228" y="3381995"/>
            <a:ext cx="2619514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Terceiros PJ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3119346" y="3381995"/>
            <a:ext cx="1497708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49.554,69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4722601" y="3381995"/>
            <a:ext cx="1456192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21.998,13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6284343" y="3381995"/>
            <a:ext cx="1456111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27.556,56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7854755" y="3381995"/>
            <a:ext cx="813007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44,4%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400028" y="379522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476228" y="3612834"/>
            <a:ext cx="2619514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Tarifas Bancárias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3119346" y="3612834"/>
            <a:ext cx="1497708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4722601" y="3612834"/>
            <a:ext cx="1456192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387,22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6284343" y="3612834"/>
            <a:ext cx="1456111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-387,22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7854755" y="3612834"/>
            <a:ext cx="813007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400028" y="3798528"/>
            <a:ext cx="8343935" cy="26024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400028" y="3798527"/>
            <a:ext cx="8343935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476228" y="3860440"/>
            <a:ext cx="2619514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3119346" y="3860440"/>
            <a:ext cx="1497708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2.997.060,89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4722601" y="3860440"/>
            <a:ext cx="1456192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1.992.287,32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6284343" y="3860440"/>
            <a:ext cx="1456111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1.004.773,57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7854755" y="3860440"/>
            <a:ext cx="813007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66,5%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400028" y="4115899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* Agosto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isolado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das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bolsas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lançadas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setembro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Saldo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 31/08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inferido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partir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extrato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gerado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 04/09/2026.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acumulado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: R$ 24.343,59.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Desembolso e Execução Orçamentária — Agosto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400028" y="761969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Conv. 001/2026 · Conta 14.730-3 · Total do Convênio: 7 parcelas previstas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400028" y="1018078"/>
            <a:ext cx="5176335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Parcelas Recebidas (Entradas de Receita)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400028" y="1207498"/>
            <a:ext cx="4705759" cy="237040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466702" y="1259885"/>
            <a:ext cx="587448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Parcela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1149400" y="1259885"/>
            <a:ext cx="836631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Nº Doc.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2081281" y="1259885"/>
            <a:ext cx="827950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Pagto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2966380" y="1259885"/>
            <a:ext cx="796375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3857815" y="1259885"/>
            <a:ext cx="1181297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"/>
          <p:cNvSpPr/>
          <p:nvPr/>
        </p:nvSpPr>
        <p:spPr>
          <a:xfrm>
            <a:off x="400028" y="1660854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466702" y="1487400"/>
            <a:ext cx="587448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1149400" y="1487400"/>
            <a:ext cx="836631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9488/2026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2081281" y="1487400"/>
            <a:ext cx="827950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04/03/2026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2966380" y="1487400"/>
            <a:ext cx="796375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862.790,26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3857815" y="1487400"/>
            <a:ext cx="1181297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862.790,26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400028" y="1664162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400028" y="1882133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466702" y="1707025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03/07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1149400" y="1707025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12047/2026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2081281" y="1707025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19/03/2026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2966380" y="1707025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426.801,96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3857815" y="1707025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1.289.592,22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"/>
          <p:cNvSpPr/>
          <p:nvPr/>
        </p:nvSpPr>
        <p:spPr>
          <a:xfrm>
            <a:off x="400028" y="2103412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466702" y="1928303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02/07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"/>
          <p:cNvSpPr/>
          <p:nvPr/>
        </p:nvSpPr>
        <p:spPr>
          <a:xfrm>
            <a:off x="1149400" y="1928303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12264/2026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"/>
          <p:cNvSpPr/>
          <p:nvPr/>
        </p:nvSpPr>
        <p:spPr>
          <a:xfrm>
            <a:off x="2081281" y="1928303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26/03/2026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"/>
          <p:cNvSpPr/>
          <p:nvPr/>
        </p:nvSpPr>
        <p:spPr>
          <a:xfrm>
            <a:off x="2966380" y="1928303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711.801,96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"/>
          <p:cNvSpPr/>
          <p:nvPr/>
        </p:nvSpPr>
        <p:spPr>
          <a:xfrm>
            <a:off x="3857815" y="1928303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2.001.394,18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400028" y="2106719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400028" y="2324690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"/>
          <p:cNvSpPr/>
          <p:nvPr/>
        </p:nvSpPr>
        <p:spPr>
          <a:xfrm>
            <a:off x="466702" y="2149582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04/07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"/>
          <p:cNvSpPr/>
          <p:nvPr/>
        </p:nvSpPr>
        <p:spPr>
          <a:xfrm>
            <a:off x="1149400" y="2149582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16569/2026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"/>
          <p:cNvSpPr/>
          <p:nvPr/>
        </p:nvSpPr>
        <p:spPr>
          <a:xfrm>
            <a:off x="2081281" y="2149582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23/04/2026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2966380" y="2149582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160.237,05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3857815" y="2149582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2.161.631,23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"/>
          <p:cNvSpPr/>
          <p:nvPr/>
        </p:nvSpPr>
        <p:spPr>
          <a:xfrm>
            <a:off x="400028" y="2545969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466702" y="2370860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05/07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1149400" y="2370860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2081281" y="2370860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2966380" y="2370860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3857815" y="2370860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00028" y="2549276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400028" y="2767247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466702" y="2592139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06/07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1149400" y="2592139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Extrato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2081281" y="2592139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13/07/2026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"/>
          <p:cNvSpPr/>
          <p:nvPr/>
        </p:nvSpPr>
        <p:spPr>
          <a:xfrm>
            <a:off x="2966380" y="2592139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160.237,05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3857815" y="2592139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2.321.868,28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400028" y="2991006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"/>
          <p:cNvSpPr/>
          <p:nvPr/>
        </p:nvSpPr>
        <p:spPr>
          <a:xfrm>
            <a:off x="466702" y="2813417"/>
            <a:ext cx="587448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07/07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1149400" y="2813417"/>
            <a:ext cx="836631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"/>
          <p:cNvSpPr/>
          <p:nvPr/>
        </p:nvSpPr>
        <p:spPr>
          <a:xfrm>
            <a:off x="2081281" y="2813417"/>
            <a:ext cx="827950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"/>
          <p:cNvSpPr/>
          <p:nvPr/>
        </p:nvSpPr>
        <p:spPr>
          <a:xfrm>
            <a:off x="2966380" y="2813417"/>
            <a:ext cx="796375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/>
          <p:nvPr/>
        </p:nvSpPr>
        <p:spPr>
          <a:xfrm>
            <a:off x="3857815" y="2813417"/>
            <a:ext cx="1181297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400028" y="2994313"/>
            <a:ext cx="4705759" cy="25068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400028" y="2994313"/>
            <a:ext cx="4705759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/>
          <p:nvPr/>
        </p:nvSpPr>
        <p:spPr>
          <a:xfrm>
            <a:off x="466702" y="3051463"/>
            <a:ext cx="3398935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RECEBIDO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3857815" y="3051463"/>
            <a:ext cx="1181297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2.321.868,28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400028" y="3311659"/>
            <a:ext cx="48469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 nova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parcela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agosto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Recebidas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: 01, 02, 03, 04 e 06/07. </a:t>
            </a:r>
            <a:r>
              <a:rPr lang="en-US" sz="8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Pendentes</a:t>
            </a: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: 05 e 07/07.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5258180" y="1018078"/>
            <a:ext cx="3485782" cy="1082673"/>
          </a:xfrm>
          <a:prstGeom prst="roundRect">
            <a:avLst>
              <a:gd name="adj" fmla="val 5279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>
            <a:off x="5388611" y="1138975"/>
            <a:ext cx="3547412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Resumo Financeiro da Conta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5388611" y="155592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5388611" y="1385549"/>
            <a:ext cx="1953362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Créditos de agosto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/>
          <p:nvPr/>
        </p:nvSpPr>
        <p:spPr>
          <a:xfrm>
            <a:off x="7768260" y="1385549"/>
            <a:ext cx="92979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R$ 5.222,26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"/>
          <p:cNvSpPr/>
          <p:nvPr/>
        </p:nvSpPr>
        <p:spPr>
          <a:xfrm>
            <a:off x="5388611" y="176769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5388611" y="1597318"/>
            <a:ext cx="1880118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Débitos de agosto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7768260" y="1597318"/>
            <a:ext cx="92979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R$ 5.686,38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5388611" y="1828132"/>
            <a:ext cx="1680197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0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Saldo</a:t>
            </a:r>
            <a:r>
              <a:rPr lang="en-US" sz="10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 em 31/08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7801100" y="1828132"/>
            <a:ext cx="893674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R$ 595.640,03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5258180" y="2205524"/>
            <a:ext cx="3485782" cy="1254755"/>
          </a:xfrm>
          <a:prstGeom prst="roundRect">
            <a:avLst>
              <a:gd name="adj" fmla="val 455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5381997" y="2319807"/>
            <a:ext cx="356196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Rendimentos de Aplicação Financeira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/>
          <p:nvPr/>
        </p:nvSpPr>
        <p:spPr>
          <a:xfrm>
            <a:off x="5381997" y="2730143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/>
          <p:nvPr/>
        </p:nvSpPr>
        <p:spPr>
          <a:xfrm>
            <a:off x="5381997" y="2566381"/>
            <a:ext cx="1205407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Saldo inicial acumulado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7640228" y="2566376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R$ 19.139,67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"/>
          <p:cNvSpPr/>
          <p:nvPr/>
        </p:nvSpPr>
        <p:spPr>
          <a:xfrm>
            <a:off x="5381997" y="2935299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"/>
          <p:cNvSpPr/>
          <p:nvPr/>
        </p:nvSpPr>
        <p:spPr>
          <a:xfrm>
            <a:off x="5381997" y="2771536"/>
            <a:ext cx="1011540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Agosto/2026 · bruto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"/>
          <p:cNvSpPr/>
          <p:nvPr/>
        </p:nvSpPr>
        <p:spPr>
          <a:xfrm>
            <a:off x="7683752" y="2771524"/>
            <a:ext cx="9744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R$ 5.222,26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"/>
          <p:cNvSpPr/>
          <p:nvPr/>
        </p:nvSpPr>
        <p:spPr>
          <a:xfrm>
            <a:off x="5381997" y="3140454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/>
          <p:nvPr/>
        </p:nvSpPr>
        <p:spPr>
          <a:xfrm>
            <a:off x="5381997" y="2976692"/>
            <a:ext cx="1018021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Agosto/2026 · IRRF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"/>
          <p:cNvSpPr/>
          <p:nvPr/>
        </p:nvSpPr>
        <p:spPr>
          <a:xfrm>
            <a:off x="7640357" y="2976699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R$ 18,34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"/>
          <p:cNvSpPr/>
          <p:nvPr/>
        </p:nvSpPr>
        <p:spPr>
          <a:xfrm>
            <a:off x="5381997" y="3200890"/>
            <a:ext cx="713109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"/>
          <p:cNvSpPr/>
          <p:nvPr/>
        </p:nvSpPr>
        <p:spPr>
          <a:xfrm>
            <a:off x="7905176" y="3200890"/>
            <a:ext cx="786466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FC8CF"/>
                </a:solidFill>
                <a:latin typeface="Arial"/>
                <a:ea typeface="Arial"/>
                <a:cs typeface="Arial"/>
                <a:sym typeface="Arial"/>
              </a:rPr>
              <a:t>R$ 24.343,59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Análise de Execução e Pontos de Atenção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"/>
          <p:cNvSpPr/>
          <p:nvPr/>
        </p:nvSpPr>
        <p:spPr>
          <a:xfrm>
            <a:off x="400028" y="857208"/>
            <a:ext cx="498266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% de Execução por 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400027" y="1094275"/>
            <a:ext cx="169835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Equip. e/ou Mat. Permanentes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4637366" y="1094275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400028" y="1255117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"/>
          <p:cNvSpPr/>
          <p:nvPr/>
        </p:nvSpPr>
        <p:spPr>
          <a:xfrm>
            <a:off x="400028" y="1255117"/>
            <a:ext cx="4529698" cy="8570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400027" y="1426528"/>
            <a:ext cx="1642311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Operacional, Adm. e Reserva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4637366" y="1426528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400028" y="1587371"/>
            <a:ext cx="4529698" cy="85705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"/>
          <p:cNvSpPr/>
          <p:nvPr/>
        </p:nvSpPr>
        <p:spPr>
          <a:xfrm>
            <a:off x="400028" y="1587371"/>
            <a:ext cx="4529698" cy="8570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400027" y="1758781"/>
            <a:ext cx="157949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Implantação / Modernização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/>
          <p:nvPr/>
        </p:nvSpPr>
        <p:spPr>
          <a:xfrm>
            <a:off x="4605610" y="1758781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79,5%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>
            <a:off x="400028" y="191962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"/>
          <p:cNvSpPr/>
          <p:nvPr/>
        </p:nvSpPr>
        <p:spPr>
          <a:xfrm>
            <a:off x="400028" y="1919625"/>
            <a:ext cx="2957881" cy="85706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"/>
          <p:cNvSpPr/>
          <p:nvPr/>
        </p:nvSpPr>
        <p:spPr>
          <a:xfrm>
            <a:off x="400028" y="2091035"/>
            <a:ext cx="120648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Terceiros PJ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4605610" y="2091035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44,4%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"/>
          <p:cNvSpPr/>
          <p:nvPr/>
        </p:nvSpPr>
        <p:spPr>
          <a:xfrm>
            <a:off x="400028" y="2251878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"/>
          <p:cNvSpPr/>
          <p:nvPr/>
        </p:nvSpPr>
        <p:spPr>
          <a:xfrm>
            <a:off x="400027" y="2251878"/>
            <a:ext cx="1558200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400028" y="2423289"/>
            <a:ext cx="155838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– Bolsa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4605610" y="2423289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41,4%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"/>
          <p:cNvSpPr/>
          <p:nvPr/>
        </p:nvSpPr>
        <p:spPr>
          <a:xfrm>
            <a:off x="400028" y="2584132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"/>
          <p:cNvSpPr/>
          <p:nvPr/>
        </p:nvSpPr>
        <p:spPr>
          <a:xfrm>
            <a:off x="400027" y="2584132"/>
            <a:ext cx="1159593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"/>
          <p:cNvSpPr/>
          <p:nvPr/>
        </p:nvSpPr>
        <p:spPr>
          <a:xfrm>
            <a:off x="400028" y="2755543"/>
            <a:ext cx="964303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Obrig. Tributárias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"/>
          <p:cNvSpPr/>
          <p:nvPr/>
        </p:nvSpPr>
        <p:spPr>
          <a:xfrm>
            <a:off x="4764516" y="2755543"/>
            <a:ext cx="20331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"/>
          <p:cNvSpPr/>
          <p:nvPr/>
        </p:nvSpPr>
        <p:spPr>
          <a:xfrm>
            <a:off x="400028" y="291638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"/>
          <p:cNvSpPr/>
          <p:nvPr/>
        </p:nvSpPr>
        <p:spPr>
          <a:xfrm>
            <a:off x="400028" y="2916385"/>
            <a:ext cx="90589" cy="85706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"/>
          <p:cNvSpPr/>
          <p:nvPr/>
        </p:nvSpPr>
        <p:spPr>
          <a:xfrm>
            <a:off x="5120204" y="85720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"/>
          <p:cNvSpPr/>
          <p:nvPr/>
        </p:nvSpPr>
        <p:spPr>
          <a:xfrm>
            <a:off x="5260144" y="987640"/>
            <a:ext cx="3678267" cy="26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66,5%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"/>
          <p:cNvSpPr/>
          <p:nvPr/>
        </p:nvSpPr>
        <p:spPr>
          <a:xfrm>
            <a:off x="5260144" y="1273385"/>
            <a:ext cx="3678267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 — R$ 1.992.287,32 do orçamento total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"/>
          <p:cNvSpPr/>
          <p:nvPr/>
        </p:nvSpPr>
        <p:spPr>
          <a:xfrm>
            <a:off x="5120204" y="163134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"/>
          <p:cNvSpPr/>
          <p:nvPr/>
        </p:nvSpPr>
        <p:spPr>
          <a:xfrm>
            <a:off x="5260144" y="1761779"/>
            <a:ext cx="3678267" cy="2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R$ 595.640,03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"/>
          <p:cNvSpPr/>
          <p:nvPr/>
        </p:nvSpPr>
        <p:spPr>
          <a:xfrm>
            <a:off x="5260144" y="2047524"/>
            <a:ext cx="367826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Saldo</a:t>
            </a:r>
            <a:r>
              <a:rPr lang="en-US" sz="9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financeiro</a:t>
            </a:r>
            <a:r>
              <a:rPr lang="en-US" sz="9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 31/08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"/>
          <p:cNvSpPr/>
          <p:nvPr/>
        </p:nvSpPr>
        <p:spPr>
          <a:xfrm>
            <a:off x="5120204" y="2405486"/>
            <a:ext cx="3623758" cy="875037"/>
          </a:xfrm>
          <a:prstGeom prst="roundRect">
            <a:avLst>
              <a:gd name="adj" fmla="val 6531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"/>
          <p:cNvSpPr/>
          <p:nvPr/>
        </p:nvSpPr>
        <p:spPr>
          <a:xfrm>
            <a:off x="5260144" y="2526384"/>
            <a:ext cx="367826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PONTOS DE ATENÇÃO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"/>
          <p:cNvSpPr/>
          <p:nvPr/>
        </p:nvSpPr>
        <p:spPr>
          <a:xfrm>
            <a:off x="5260144" y="2693066"/>
            <a:ext cx="3444195" cy="4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houve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nova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parcela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agosto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. O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rendimento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líquido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somou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R$ 5.203,92.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tarifas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reduziram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caixa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em R$ 5.668,04.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pagamentos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bolsas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lançados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setembro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ficaram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fora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deste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r>
              <a:rPr lang="en-US" sz="900" b="0" i="0" u="none" strike="noStrike" cap="none" dirty="0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Entregas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400028" y="838166"/>
            <a:ext cx="8343935" cy="256108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476227" y="900079"/>
            <a:ext cx="689114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1279641" y="900079"/>
            <a:ext cx="3653151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Descrição dos Entregáveis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4974351" y="900079"/>
            <a:ext cx="665600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"/>
          <p:cNvSpPr/>
          <p:nvPr/>
        </p:nvSpPr>
        <p:spPr>
          <a:xfrm>
            <a:off x="5754251" y="900079"/>
            <a:ext cx="681362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Término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6530863" y="900079"/>
            <a:ext cx="854168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18381" y="900079"/>
            <a:ext cx="1188435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"/>
          <p:cNvSpPr/>
          <p:nvPr/>
        </p:nvSpPr>
        <p:spPr>
          <a:xfrm>
            <a:off x="400028" y="135823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476227" y="1160950"/>
            <a:ext cx="689114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1279641" y="1160950"/>
            <a:ext cx="3653151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Planejamento e Gestão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4974351" y="1160950"/>
            <a:ext cx="665600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"/>
          <p:cNvSpPr/>
          <p:nvPr/>
        </p:nvSpPr>
        <p:spPr>
          <a:xfrm>
            <a:off x="5754251" y="1160950"/>
            <a:ext cx="681362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"/>
          <p:cNvSpPr/>
          <p:nvPr/>
        </p:nvSpPr>
        <p:spPr>
          <a:xfrm>
            <a:off x="6530863" y="1160950"/>
            <a:ext cx="854168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7518379" y="1156984"/>
            <a:ext cx="897439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7575529" y="1180796"/>
            <a:ext cx="821239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"/>
          <p:cNvSpPr/>
          <p:nvPr/>
        </p:nvSpPr>
        <p:spPr>
          <a:xfrm>
            <a:off x="400028" y="1361545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400028" y="162716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476227" y="1428220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1279641" y="1428220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Análise de Requisitos e Arquitetura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"/>
          <p:cNvSpPr/>
          <p:nvPr/>
        </p:nvSpPr>
        <p:spPr>
          <a:xfrm>
            <a:off x="4974351" y="1428220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5754251" y="1428220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Mai/2026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6530863" y="1428220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7518379" y="1425908"/>
            <a:ext cx="691017" cy="15342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"/>
          <p:cNvSpPr/>
          <p:nvPr/>
        </p:nvSpPr>
        <p:spPr>
          <a:xfrm>
            <a:off x="7575529" y="1449720"/>
            <a:ext cx="614817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CONCLUÍDO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400028" y="18960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476227" y="1697144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"/>
          <p:cNvSpPr/>
          <p:nvPr/>
        </p:nvSpPr>
        <p:spPr>
          <a:xfrm>
            <a:off x="1279641" y="1697144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Motor Preditivo e Dashboards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4974351" y="1697144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Jun/2026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5754251" y="1697144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"/>
          <p:cNvSpPr/>
          <p:nvPr/>
        </p:nvSpPr>
        <p:spPr>
          <a:xfrm>
            <a:off x="6530863" y="1697144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"/>
          <p:cNvSpPr/>
          <p:nvPr/>
        </p:nvSpPr>
        <p:spPr>
          <a:xfrm>
            <a:off x="7518379" y="1694832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7575529" y="1718645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400028" y="1899393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400028" y="216501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476227" y="1966068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1279641" y="1966068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Validação, Testes e Implantação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4974351" y="1966068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Abr/2027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5754251" y="1966068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Out/2027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6530863" y="1966068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7518379" y="1963756"/>
            <a:ext cx="78101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7575529" y="1987569"/>
            <a:ext cx="70481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NÃO INICIADO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400028" y="243393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476227" y="2234992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"/>
          <p:cNvSpPr/>
          <p:nvPr/>
        </p:nvSpPr>
        <p:spPr>
          <a:xfrm>
            <a:off x="1279641" y="2234992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Pesquisa Científica, PI e Resultados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4974351" y="2234992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5754251" y="2234992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6530863" y="2234992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7518379" y="2232680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7575529" y="2256493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"/>
          <p:cNvSpPr/>
          <p:nvPr/>
        </p:nvSpPr>
        <p:spPr>
          <a:xfrm>
            <a:off x="400028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"/>
          <p:cNvSpPr/>
          <p:nvPr/>
        </p:nvSpPr>
        <p:spPr>
          <a:xfrm>
            <a:off x="530458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Macro 02 · Concluída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"/>
          <p:cNvSpPr/>
          <p:nvPr/>
        </p:nvSpPr>
        <p:spPr>
          <a:xfrm>
            <a:off x="530458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Documento de Requisitos e arquitetura mantidos como base para as integrações e os testes de agosto.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"/>
          <p:cNvSpPr/>
          <p:nvPr/>
        </p:nvSpPr>
        <p:spPr>
          <a:xfrm>
            <a:off x="4619614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"/>
          <p:cNvSpPr/>
          <p:nvPr/>
        </p:nvSpPr>
        <p:spPr>
          <a:xfrm>
            <a:off x="4750046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 · Em </a:t>
            </a:r>
            <a:r>
              <a:rPr lang="en-US" sz="8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avanço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"/>
          <p:cNvSpPr/>
          <p:nvPr/>
        </p:nvSpPr>
        <p:spPr>
          <a:xfrm>
            <a:off x="4750046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Motor multiclasse, injeção manual de dados, autenticação e dashboard com dados reais avançaram nas Sprints 13 e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"/>
          <p:cNvSpPr/>
          <p:nvPr/>
        </p:nvSpPr>
        <p:spPr>
          <a:xfrm>
            <a:off x="400028" y="285745"/>
            <a:ext cx="429408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RESUMO EXECUTIVO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400028" y="452427"/>
            <a:ext cx="4294087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Destaques do Mês — Agosto /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7333299" y="435529"/>
            <a:ext cx="1410663" cy="259778"/>
          </a:xfrm>
          <a:prstGeom prst="roundRect">
            <a:avLst>
              <a:gd name="adj" fmla="val 14666"/>
            </a:avLst>
          </a:prstGeom>
          <a:solidFill>
            <a:srgbClr val="E7F5E8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"/>
          <p:cNvSpPr/>
          <p:nvPr/>
        </p:nvSpPr>
        <p:spPr>
          <a:xfrm>
            <a:off x="7444688" y="527306"/>
            <a:ext cx="76197" cy="76197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"/>
          <p:cNvSpPr/>
          <p:nvPr/>
        </p:nvSpPr>
        <p:spPr>
          <a:xfrm>
            <a:off x="7578013" y="499272"/>
            <a:ext cx="116001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Status Geral: Verde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"/>
          <p:cNvSpPr/>
          <p:nvPr/>
        </p:nvSpPr>
        <p:spPr>
          <a:xfrm>
            <a:off x="400027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"/>
          <p:cNvSpPr/>
          <p:nvPr/>
        </p:nvSpPr>
        <p:spPr>
          <a:xfrm>
            <a:off x="530459" y="1093861"/>
            <a:ext cx="2456956" cy="1322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"/>
          <p:cNvSpPr/>
          <p:nvPr/>
        </p:nvSpPr>
        <p:spPr>
          <a:xfrm>
            <a:off x="530459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ALINHAMENTO AO PLANO DE TRABALHO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"/>
          <p:cNvSpPr/>
          <p:nvPr/>
        </p:nvSpPr>
        <p:spPr>
          <a:xfrm>
            <a:off x="558556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12: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agosto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"/>
          <p:cNvSpPr/>
          <p:nvPr/>
        </p:nvSpPr>
        <p:spPr>
          <a:xfrm>
            <a:off x="558581" y="1761438"/>
            <a:ext cx="24993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13: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18/08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"/>
          <p:cNvSpPr/>
          <p:nvPr/>
        </p:nvSpPr>
        <p:spPr>
          <a:xfrm>
            <a:off x="546131" y="2492914"/>
            <a:ext cx="24993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14: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25/08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"/>
          <p:cNvSpPr/>
          <p:nvPr/>
        </p:nvSpPr>
        <p:spPr>
          <a:xfrm>
            <a:off x="3213086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"/>
          <p:cNvSpPr/>
          <p:nvPr/>
        </p:nvSpPr>
        <p:spPr>
          <a:xfrm>
            <a:off x="3343517" y="1093861"/>
            <a:ext cx="2456956" cy="13229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"/>
          <p:cNvSpPr/>
          <p:nvPr/>
        </p:nvSpPr>
        <p:spPr>
          <a:xfrm>
            <a:off x="3343517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ENTREGAS TÉCNICAS — SPRINTS 13 E 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6"/>
          <p:cNvSpPr/>
          <p:nvPr/>
        </p:nvSpPr>
        <p:spPr>
          <a:xfrm>
            <a:off x="3371614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Backend com JWT, API Key e rotas de integração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"/>
          <p:cNvSpPr/>
          <p:nvPr/>
        </p:nvSpPr>
        <p:spPr>
          <a:xfrm>
            <a:off x="3371614" y="1547063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Injeção manual de leituras, comunicações e incidentes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"/>
          <p:cNvSpPr/>
          <p:nvPr/>
        </p:nvSpPr>
        <p:spPr>
          <a:xfrm>
            <a:off x="3371614" y="1910840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conectado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backend real em 8 endpoints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"/>
          <p:cNvSpPr/>
          <p:nvPr/>
        </p:nvSpPr>
        <p:spPr>
          <a:xfrm>
            <a:off x="3371614" y="2274616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e relatórios com dados reais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"/>
          <p:cNvSpPr/>
          <p:nvPr/>
        </p:nvSpPr>
        <p:spPr>
          <a:xfrm>
            <a:off x="6026144" y="809589"/>
            <a:ext cx="2717818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"/>
          <p:cNvSpPr/>
          <p:nvPr/>
        </p:nvSpPr>
        <p:spPr>
          <a:xfrm>
            <a:off x="6156575" y="1093861"/>
            <a:ext cx="2456956" cy="13229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"/>
          <p:cNvSpPr/>
          <p:nvPr/>
        </p:nvSpPr>
        <p:spPr>
          <a:xfrm>
            <a:off x="6156575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PRODUÇÃO CIENTÍFICA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"/>
          <p:cNvSpPr/>
          <p:nvPr/>
        </p:nvSpPr>
        <p:spPr>
          <a:xfrm>
            <a:off x="6184673" y="1183287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Apresentação e participação no SEGE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"/>
          <p:cNvSpPr/>
          <p:nvPr/>
        </p:nvSpPr>
        <p:spPr>
          <a:xfrm>
            <a:off x="6184673" y="1547063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Testes dos agentes e plano de ação do Artigo 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6184673" y="1910840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do artigo IECON e aquisição da NBR 16968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Pontos de atenção: MCP indisponível no parcial da Sprint 14; integração do MLflow ainda planejada; parcelas 05 e 07 pendentes. Próximo marco: concluir a Sprint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"/>
          <p:cNvSpPr/>
          <p:nvPr/>
        </p:nvSpPr>
        <p:spPr>
          <a:xfrm>
            <a:off x="400027" y="367962"/>
            <a:ext cx="660244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485752" y="406062"/>
            <a:ext cx="526894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1136468" y="285745"/>
            <a:ext cx="379033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1136468" y="413928"/>
            <a:ext cx="379033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Front-end — Dados Reais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Integração com o backend real por VPN e proxy.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7"/>
          <p:cNvSpPr/>
          <p:nvPr/>
        </p:nvSpPr>
        <p:spPr>
          <a:xfrm>
            <a:off x="424791" y="1312917"/>
            <a:ext cx="4480594" cy="18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Oito endpoints responderam HTTP 200 nas telas auditadas.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424791" y="1527607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ajusta o período entre 1h, 6h, 24h, 7d e 30d.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400028" y="1785163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424791" y="1961353"/>
            <a:ext cx="4118641" cy="39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Monitoramento e relatórios operam sem dados simulados.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400028" y="2433598"/>
            <a:ext cx="4105305" cy="491288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511417" y="2525938"/>
            <a:ext cx="4005685" cy="32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interface integrada, com navegação temporal e relatórios consolidados.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4638658" y="759721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5808172" y="1601995"/>
            <a:ext cx="1942874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5788096" y="1762450"/>
            <a:ext cx="1987042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4638658" y="2770632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1F8E9"/>
          </a:solidFill>
          <a:ln w="16525" cap="flat" cmpd="sng">
            <a:solidFill>
              <a:srgbClr val="9BC3A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5587411" y="361290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7A3F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6046168" y="3773361"/>
            <a:ext cx="1419311" cy="11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A06F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000000"/>
            <a:ext cx="4000000" cy="21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0000" y="3200000"/>
            <a:ext cx="40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"/>
          <p:cNvSpPr/>
          <p:nvPr/>
        </p:nvSpPr>
        <p:spPr>
          <a:xfrm>
            <a:off x="400028" y="367962"/>
            <a:ext cx="64306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485753" y="406062"/>
            <a:ext cx="50971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1119286" y="285745"/>
            <a:ext cx="344793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1119286" y="413928"/>
            <a:ext cx="344793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Back-end — Segurança e Ingestão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Refatoração das rotas de alertas e RAG para integração com os agentes.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424791" y="1312917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Autenticação por API Key e login JWT nos serviços.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424791" y="1689922"/>
            <a:ext cx="4200557" cy="34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Interface para ingestão manual de leituras, comunicações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424791" y="2066928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Lotes configuráveis e validação das respostas via Swagger.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400028" y="2314949"/>
            <a:ext cx="4105305" cy="644612"/>
          </a:xfrm>
          <a:prstGeom prst="roundRect">
            <a:avLst>
              <a:gd name="adj" fmla="val 8866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511417" y="2407288"/>
            <a:ext cx="4005685" cy="47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Próximo passo: concluir a integração com MCP e frontend.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8"/>
          <p:cNvSpPr/>
          <p:nvPr/>
        </p:nvSpPr>
        <p:spPr>
          <a:xfrm>
            <a:off x="4663421" y="935912"/>
            <a:ext cx="4118641" cy="61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Evidência: cadastro manual e respostas autenticadas.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4638658" y="1613313"/>
            <a:ext cx="4105305" cy="797936"/>
          </a:xfrm>
          <a:prstGeom prst="roundRect">
            <a:avLst>
              <a:gd name="adj" fmla="val 7162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/>
          <p:nvPr/>
        </p:nvSpPr>
        <p:spPr>
          <a:xfrm>
            <a:off x="4750047" y="1705652"/>
            <a:ext cx="4005685" cy="63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backend protegido e preparado para dados reais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150000"/>
            <a:ext cx="4000000" cy="30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"/>
          <p:cNvSpPr/>
          <p:nvPr/>
        </p:nvSpPr>
        <p:spPr>
          <a:xfrm>
            <a:off x="400027" y="367962"/>
            <a:ext cx="547796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485752" y="406062"/>
            <a:ext cx="414446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1024020" y="285745"/>
            <a:ext cx="318289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1024020" y="413928"/>
            <a:ext cx="3182899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IA / ML — Análise de Dados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400028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549022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Análise dos dados sintéticos e inclusão de variáveis meteorológicas.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549022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Matriz de correlação usada para avaliar relações entre medições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549022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Modelo multiclasse alinhado aos contratos do backend.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3216263" y="759721"/>
            <a:ext cx="2711462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3365258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3365258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3365258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6032500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6181494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análise passou a considerar clima e novas referências para os próximos testes.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50000"/>
            <a:ext cx="3950000" cy="29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"/>
          <p:cNvSpPr/>
          <p:nvPr/>
        </p:nvSpPr>
        <p:spPr>
          <a:xfrm>
            <a:off x="400027" y="367962"/>
            <a:ext cx="870050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485753" y="406062"/>
            <a:ext cx="736700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1346275" y="285745"/>
            <a:ext cx="373360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1346275" y="413928"/>
            <a:ext cx="373360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Agentes de IA — Testes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424791" y="1228212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das métricas dos agentes para o artigo.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424791" y="1760317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Plano de ação para testes e validação dos modelos.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426304" y="2256048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Avaliação das respostas e análise dos prompts dinâmicos.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/>
          <p:nvPr/>
        </p:nvSpPr>
        <p:spPr>
          <a:xfrm>
            <a:off x="412413" y="2751896"/>
            <a:ext cx="4105200" cy="736800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523804" y="2844249"/>
            <a:ext cx="40056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metodologia de testes organizada para o Artigo 04.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— alinhamento do Artigo 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4638658" y="935912"/>
            <a:ext cx="4105305" cy="3778968"/>
          </a:xfrm>
          <a:prstGeom prst="roundRect">
            <a:avLst>
              <a:gd name="adj" fmla="val 1512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5587411" y="269554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5865533" y="2856002"/>
            <a:ext cx="1816708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4700000" y="1200000"/>
            <a:ext cx="4000000" cy="300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"/>
          <p:cNvSpPr/>
          <p:nvPr/>
        </p:nvSpPr>
        <p:spPr>
          <a:xfrm>
            <a:off x="400027" y="367962"/>
            <a:ext cx="567407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485753" y="406062"/>
            <a:ext cx="434057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1043631" y="285745"/>
            <a:ext cx="4071486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1043631" y="413928"/>
            <a:ext cx="4071486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DevOps — CPD e Monitoramento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de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400028" y="954981"/>
            <a:ext cx="410530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476228" y="1012131"/>
            <a:ext cx="18087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342197" y="1012131"/>
            <a:ext cx="982790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3439288" y="1012131"/>
            <a:ext cx="989845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400028" y="1446424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476228" y="1258679"/>
            <a:ext cx="1808792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2342197" y="1258679"/>
            <a:ext cx="982790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3439288" y="1258679"/>
            <a:ext cx="989845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Finalizada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400028" y="1449731"/>
            <a:ext cx="4105305" cy="24985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400028" y="1696279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476228" y="1506881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2342197" y="1506881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3439288" y="1506881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00028" y="1946135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476228" y="1756736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2342197" y="1756736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3439288" y="1756736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lang="en-US" sz="1100" b="1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400028" y="2046335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28125" y="2213017"/>
            <a:ext cx="4115307" cy="36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Coleta de VRAM, energia e temperatura; notificação de incidentes via Telegram; sincronização de backups por rsync.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operacional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4638658" y="964489"/>
            <a:ext cx="4105305" cy="691328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4778597" y="1094920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4778597" y="1399708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migração concluída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4638658" y="1741522"/>
            <a:ext cx="4105305" cy="691327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4778597" y="1871953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4778597" y="2176741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1100" b="0" i="0" u="none" strike="noStrike" cap="none" dirty="0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preparação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4638650" y="2518547"/>
            <a:ext cx="4105200" cy="868500"/>
          </a:xfrm>
          <a:prstGeom prst="roundRect">
            <a:avLst>
              <a:gd name="adj" fmla="val 11956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4759572" y="2610894"/>
            <a:ext cx="3986635" cy="31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Resultado: infraestrutura migrada e métricas organizadas para monitoramento e pesquisa.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3" name="Google Shape;63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00000"/>
            <a:ext cx="3950000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2"/>
          <p:cNvSpPr/>
          <p:nvPr/>
        </p:nvSpPr>
        <p:spPr>
          <a:xfrm>
            <a:off x="400027" y="367962"/>
            <a:ext cx="63151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485752" y="406062"/>
            <a:ext cx="49816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1107736" y="285745"/>
            <a:ext cx="337497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1107736" y="413928"/>
            <a:ext cx="337497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Pesquisa Científica —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400028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549022" y="1072570"/>
            <a:ext cx="2470137" cy="95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e apresentação do trabalho no SEGE 2026; análise PRODIST versus saída do ML/DL.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3216263" y="759721"/>
            <a:ext cx="2711462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3365258" y="1072570"/>
            <a:ext cx="2470137" cy="53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6032500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6181495" y="1516822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6181501" y="1807750"/>
            <a:ext cx="24702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6176970" y="2256251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00028" y="4357848"/>
            <a:ext cx="8343935" cy="357032"/>
          </a:xfrm>
          <a:prstGeom prst="roundRect">
            <a:avLst>
              <a:gd name="adj" fmla="val 16007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530467" y="4459713"/>
            <a:ext cx="8333374" cy="17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testes dos agentes, Artigo 04 e ajustes do IECON avançaram no mês.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200000"/>
            <a:ext cx="3950000" cy="2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PROPRIEDADE INTELECTUAL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Evidências da Implementação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400028" y="819123"/>
            <a:ext cx="8343935" cy="435994"/>
          </a:xfrm>
          <a:prstGeom prst="roundRect">
            <a:avLst>
              <a:gd name="adj" fmla="val 13108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523853" y="904848"/>
            <a:ext cx="8346603" cy="28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PI: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SEGE 2026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 IECON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400028" y="135989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30458" y="1471279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Revisão de Literatura e Estado da Arte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530458" y="1651578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Literatura sobre dados meteorológicos, medições de energia e modelos de referência.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3540430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3597575" y="1495111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4614835" y="135989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4745266" y="1471279"/>
            <a:ext cx="3227181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Regulamentos e Normas Nacionais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4745266" y="1651578"/>
            <a:ext cx="3021815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da ABNT NBR 16968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solicitada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pelo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Ofício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004/2026 em 19/08.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7755263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7812425" y="1495110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400028" y="307547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530458" y="3186860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Escrita Acadêmica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530458" y="3367159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SEGE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revisada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IECON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ajuste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3540430" y="3186860"/>
            <a:ext cx="858268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3597580" y="3210672"/>
            <a:ext cx="782068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4614835" y="307547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4745266" y="3186860"/>
            <a:ext cx="3431677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Registro de Software / 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4745266" y="3367159"/>
            <a:ext cx="321329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Registro de software e proteção dos resultados permanecem planejados.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7941169" y="3186860"/>
            <a:ext cx="67236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7998319" y="3210672"/>
            <a:ext cx="59616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PLANEJADO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DE RISCOS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Matriz de Risco — Análise e Mitigação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400028" y="809589"/>
            <a:ext cx="8343935" cy="223811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457177" y="861976"/>
            <a:ext cx="230267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763645" y="861976"/>
            <a:ext cx="205181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2847619" y="861976"/>
            <a:ext cx="38149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4"/>
          <p:cNvSpPr/>
          <p:nvPr/>
        </p:nvSpPr>
        <p:spPr>
          <a:xfrm>
            <a:off x="3324366" y="861976"/>
            <a:ext cx="3695510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Estratégia de Mitigação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7023210" y="861976"/>
            <a:ext cx="89841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7997828" y="861976"/>
            <a:ext cx="72708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400028" y="136511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457177" y="1081025"/>
            <a:ext cx="230267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763645" y="1081025"/>
            <a:ext cx="2051815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Qualidade e disponibilidade dos dados AMI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2847619" y="1081025"/>
            <a:ext cx="38149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3324366" y="1081025"/>
            <a:ext cx="3695510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Dados sintéticos avaliados com variáveis meteorológicas.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7023210" y="1081025"/>
            <a:ext cx="89841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7997806" y="1139698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8045431" y="1158748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400028" y="1368418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400028" y="170178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457177" y="1416043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763645" y="1416043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dos modelos de Deep Learning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2847619" y="1416043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3324366" y="1416043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multiclasse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contratos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10 classes.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7023210" y="1416043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Gabriel / Andrei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7997806" y="1476370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8045431" y="1495420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400028" y="191939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457177" y="1752715"/>
            <a:ext cx="230267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763645" y="1752715"/>
            <a:ext cx="2051815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da integração via MCP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2847619" y="1752715"/>
            <a:ext cx="38149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3324366" y="1752715"/>
            <a:ext cx="3695510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MCP indisponível no parcial; frontend pronto para reconexão.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4"/>
          <p:cNvSpPr/>
          <p:nvPr/>
        </p:nvSpPr>
        <p:spPr>
          <a:xfrm>
            <a:off x="7023210" y="1752715"/>
            <a:ext cx="89841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7997806" y="1753511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8045431" y="1772561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400028" y="1922699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400028" y="225606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457177" y="1970324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763645" y="1970324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Escalabilidade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2847619" y="1970324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3324366" y="1970324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do CPD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; backups 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7023210" y="1970324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7997806" y="2030651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8045431" y="2049701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400028" y="259273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457177" y="2306996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763645" y="2306996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especialistas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IA/LLM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4"/>
          <p:cNvSpPr/>
          <p:nvPr/>
        </p:nvSpPr>
        <p:spPr>
          <a:xfrm>
            <a:off x="2847619" y="2306996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4"/>
          <p:cNvSpPr/>
          <p:nvPr/>
        </p:nvSpPr>
        <p:spPr>
          <a:xfrm>
            <a:off x="3324366" y="2306996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mobilizada e processo de seleção acompanhado pela coordenação.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7023210" y="2306996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IFAM-Polo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4"/>
          <p:cNvSpPr/>
          <p:nvPr/>
        </p:nvSpPr>
        <p:spPr>
          <a:xfrm>
            <a:off x="7997806" y="2367323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8045431" y="2386373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400028" y="2596043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4"/>
          <p:cNvSpPr/>
          <p:nvPr/>
        </p:nvSpPr>
        <p:spPr>
          <a:xfrm>
            <a:off x="400028" y="292940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457177" y="2643668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763645" y="2643668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Atraso na liberação de recursos financeiros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4"/>
          <p:cNvSpPr/>
          <p:nvPr/>
        </p:nvSpPr>
        <p:spPr>
          <a:xfrm>
            <a:off x="2847619" y="2643668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4"/>
          <p:cNvSpPr/>
          <p:nvPr/>
        </p:nvSpPr>
        <p:spPr>
          <a:xfrm>
            <a:off x="3324366" y="2643668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 parcelas recebidas; parcelas 05 e 07 continuam pendentes.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7023210" y="2643668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7997806" y="2703995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8045431" y="2723045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400028" y="326608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457177" y="2980340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R08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763645" y="2980340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Consumo energético e capacidade de hardware </a:t>
            </a: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(novo)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2847619" y="2980340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3324366" y="2980340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 de VRAM, energia, CPU e GPU incorporadas ao monitoramento.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7023210" y="2980340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José Max / 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7997806" y="3040667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8045431" y="3059717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400028" y="3337703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Exp. = Exposição ao risco (Alto / Médio / Baixo), combinando probabilidade e impacto.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15" descr="preencoded.png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286489" y="3368709"/>
            <a:ext cx="3047979" cy="191763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15"/>
          <p:cNvSpPr/>
          <p:nvPr/>
        </p:nvSpPr>
        <p:spPr>
          <a:xfrm>
            <a:off x="523870" y="1742168"/>
            <a:ext cx="8339137" cy="65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457203" y="1101675"/>
            <a:ext cx="82296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Reuniões técnicas e gerenciais com líderes e equipes.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Consolidação e apresentação dos resultados das Sprints 13 e 14.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e envio do Relatório Descritivo Anual 2025 à empresa para prestação de contas e SAGAT.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Solicitação de aquisição da ABNT NBR 16968 pelo Ofício 004/2026, de 19/08.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Acompanhamento da migração do CPD, riscos, cronograma e evidências.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da apresentação e participação no SEGE 2026.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Atualização do acompanhamento financeiro e dos instrumentos de gestão.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23870" y="3283314"/>
            <a:ext cx="4063783" cy="336000"/>
          </a:xfrm>
          <a:prstGeom prst="roundRect">
            <a:avLst>
              <a:gd name="adj" fmla="val 17009"/>
            </a:avLst>
          </a:prstGeom>
          <a:solidFill>
            <a:srgbClr val="FFFFFF">
              <a:alpha val="10196"/>
            </a:srgbClr>
          </a:solidFill>
          <a:ln w="13225" cap="flat" cmpd="sng">
            <a:solidFill>
              <a:srgbClr val="FFFFFF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403107" y="3413299"/>
            <a:ext cx="21336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Fontes: Sprints 13 e 14, extrato do projeto e Ofício 004/2026.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2189036" y="3385175"/>
            <a:ext cx="47391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Gestão</a:t>
            </a:r>
            <a:endParaRPr/>
          </a:p>
        </p:txBody>
      </p:sp>
      <p:sp>
        <p:nvSpPr>
          <p:cNvPr id="773" name="Google Shape;773;p15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6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Encaminhamentos Gerais — Próximo Ciclo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400028" y="83816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530458" y="94002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587609" y="973358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1502002" y="954076"/>
            <a:ext cx="523246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Concluir a Sprint 14 e estabilizar a integração com o backend real.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400028" y="130048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530458" y="1402344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587609" y="143568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1502002" y="1416400"/>
            <a:ext cx="6485483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ingestão manual, autenticação e integração com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400028" y="1762812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530458" y="1864667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587609" y="1898004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1502002" y="1878722"/>
            <a:ext cx="547903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Incorporar dados meteorológicos e preparar MLflow.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400028" y="222513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530458" y="232699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587609" y="2360327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1502002" y="2341046"/>
            <a:ext cx="424198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Executar testes dos agentes e restabelecer o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400028" y="268745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530458" y="2789313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587609" y="282265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1502002" y="2803368"/>
            <a:ext cx="581495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ajustes do IECON, Artigo 04 e mapa da NBR 16968.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7"/>
          <p:cNvSpPr txBox="1"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Obrigado</a:t>
            </a:r>
            <a:endParaRPr/>
          </a:p>
        </p:txBody>
      </p:sp>
      <p:sp>
        <p:nvSpPr>
          <p:cNvPr id="806" name="Google Shape;806;p17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 b="1"/>
          </a:p>
        </p:txBody>
      </p:sp>
      <p:pic>
        <p:nvPicPr>
          <p:cNvPr id="807" name="Google Shape;80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888" y="4797780"/>
            <a:ext cx="658416" cy="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8"/>
          <p:cNvSpPr/>
          <p:nvPr/>
        </p:nvSpPr>
        <p:spPr>
          <a:xfrm>
            <a:off x="0" y="-14537"/>
            <a:ext cx="9144000" cy="51435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18"/>
          <p:cNvPicPr preferRelativeResize="0"/>
          <p:nvPr/>
        </p:nvPicPr>
        <p:blipFill rotWithShape="1">
          <a:blip r:embed="rId3">
            <a:alphaModFix/>
          </a:blip>
          <a:srcRect b="22389"/>
          <a:stretch/>
        </p:blipFill>
        <p:spPr>
          <a:xfrm>
            <a:off x="3456319" y="606994"/>
            <a:ext cx="2009249" cy="155795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8"/>
          <p:cNvSpPr txBox="1"/>
          <p:nvPr/>
        </p:nvSpPr>
        <p:spPr>
          <a:xfrm>
            <a:off x="3819694" y="2164950"/>
            <a:ext cx="128250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</a:t>
            </a:r>
            <a:endParaRPr sz="105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3648131" y="3147188"/>
            <a:ext cx="1625625" cy="39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</a:t>
            </a:r>
            <a:r>
              <a:rPr lang="en-US" sz="82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ção </a:t>
            </a: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projetos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Polo de Inovação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3120056" y="4536507"/>
            <a:ext cx="2681775" cy="2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Construindo juntos a inovação!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2134</Words>
  <Application>Microsoft Office PowerPoint</Application>
  <PresentationFormat>Apresentação na tela (16:9)</PresentationFormat>
  <Paragraphs>406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Courier New</vt:lpstr>
      <vt:lpstr>Calibri</vt:lpstr>
      <vt:lpstr>Tema do Office</vt:lpstr>
      <vt:lpstr>Polo de Inovação Manaus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Gestão</vt:lpstr>
      <vt:lpstr>Apresentação do PowerPoint</vt:lpstr>
      <vt:lpstr>Obrigado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Geziel Sena Colares</cp:lastModifiedBy>
  <cp:revision>4</cp:revision>
  <dcterms:modified xsi:type="dcterms:W3CDTF">2026-10-06T21:47:38Z</dcterms:modified>
</cp:coreProperties>
</file>