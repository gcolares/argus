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htE0lr89iFIDoXqoug/0THnn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Junho</a:t>
            </a:r>
            <a:r>
              <a:rPr lang="en-US" sz="900" dirty="0"/>
              <a:t> </a:t>
            </a:r>
            <a:r>
              <a:rPr lang="en-US" sz="900" dirty="0" err="1"/>
              <a:t>foi</a:t>
            </a:r>
            <a:r>
              <a:rPr lang="en-US" sz="900" dirty="0"/>
              <a:t> um </a:t>
            </a:r>
            <a:r>
              <a:rPr lang="en-US" sz="900" dirty="0" err="1"/>
              <a:t>mês</a:t>
            </a:r>
            <a:r>
              <a:rPr lang="en-US" sz="900" dirty="0"/>
              <a:t> de </a:t>
            </a:r>
            <a:r>
              <a:rPr lang="en-US" sz="900" dirty="0" err="1"/>
              <a:t>baixa</a:t>
            </a:r>
            <a:r>
              <a:rPr lang="en-US" sz="900" dirty="0"/>
              <a:t> </a:t>
            </a:r>
            <a:r>
              <a:rPr lang="en-US" sz="900" dirty="0" err="1"/>
              <a:t>movimentação</a:t>
            </a:r>
            <a:r>
              <a:rPr lang="en-US" sz="900" dirty="0"/>
              <a:t>: </a:t>
            </a:r>
            <a:r>
              <a:rPr lang="en-US" sz="900" dirty="0" err="1"/>
              <a:t>sem</a:t>
            </a:r>
            <a:r>
              <a:rPr lang="en-US" sz="900" dirty="0"/>
              <a:t> </a:t>
            </a:r>
            <a:r>
              <a:rPr lang="en-US" sz="900" dirty="0" err="1"/>
              <a:t>novas</a:t>
            </a:r>
            <a:r>
              <a:rPr lang="en-US" sz="900" dirty="0"/>
              <a:t> </a:t>
            </a:r>
            <a:r>
              <a:rPr lang="en-US" sz="900" dirty="0" err="1"/>
              <a:t>parcelas</a:t>
            </a:r>
            <a:r>
              <a:rPr lang="en-US" sz="900" dirty="0"/>
              <a:t> </a:t>
            </a:r>
            <a:r>
              <a:rPr lang="en-US" sz="900" dirty="0" err="1"/>
              <a:t>recebidas</a:t>
            </a:r>
            <a:r>
              <a:rPr lang="en-US" sz="900" dirty="0"/>
              <a:t> e </a:t>
            </a:r>
            <a:r>
              <a:rPr lang="en-US" sz="900" dirty="0" err="1"/>
              <a:t>sem</a:t>
            </a:r>
            <a:r>
              <a:rPr lang="en-US" sz="900" dirty="0"/>
              <a:t> </a:t>
            </a:r>
            <a:r>
              <a:rPr lang="en-US" sz="900" dirty="0" err="1"/>
              <a:t>aquisições</a:t>
            </a:r>
            <a:r>
              <a:rPr lang="en-US" sz="900" dirty="0"/>
              <a:t> </a:t>
            </a:r>
            <a:r>
              <a:rPr lang="en-US" sz="900" dirty="0" err="1"/>
              <a:t>relevantes</a:t>
            </a:r>
            <a:r>
              <a:rPr lang="en-US" sz="900" dirty="0"/>
              <a:t>. Entradas </a:t>
            </a:r>
            <a:r>
              <a:rPr lang="en-US" sz="900" dirty="0" err="1"/>
              <a:t>limitadas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</a:t>
            </a:r>
            <a:r>
              <a:rPr lang="en-US" sz="900" dirty="0" err="1"/>
              <a:t>rendimento</a:t>
            </a:r>
            <a:r>
              <a:rPr lang="en-US" sz="900" dirty="0"/>
              <a:t> de </a:t>
            </a:r>
            <a:r>
              <a:rPr lang="en-US" sz="900" dirty="0" err="1"/>
              <a:t>aplicação</a:t>
            </a:r>
            <a:r>
              <a:rPr lang="en-US" sz="900" dirty="0"/>
              <a:t> </a:t>
            </a:r>
            <a:r>
              <a:rPr lang="en-US" sz="900" dirty="0" err="1"/>
              <a:t>financeira</a:t>
            </a:r>
            <a:r>
              <a:rPr lang="en-US" sz="900" dirty="0"/>
              <a:t> (R$ 5.401,30). </a:t>
            </a:r>
            <a:r>
              <a:rPr lang="en-US" sz="900" dirty="0" err="1"/>
              <a:t>Saldo</a:t>
            </a:r>
            <a:r>
              <a:rPr lang="en-US" sz="900" dirty="0"/>
              <a:t> em </a:t>
            </a:r>
            <a:r>
              <a:rPr lang="en-US" sz="900" dirty="0" err="1"/>
              <a:t>caixa</a:t>
            </a:r>
            <a:r>
              <a:rPr lang="en-US" sz="900" dirty="0"/>
              <a:t> </a:t>
            </a:r>
            <a:r>
              <a:rPr lang="en-US" sz="900" dirty="0" err="1"/>
              <a:t>cresceu</a:t>
            </a:r>
            <a:r>
              <a:rPr lang="en-US" sz="900" dirty="0"/>
              <a:t> para R$ 628.706,56.</a:t>
            </a:r>
            <a:endParaRPr sz="900" dirty="0"/>
          </a:p>
        </p:txBody>
      </p:sp>
      <p:sp>
        <p:nvSpPr>
          <p:cNvPr id="195" name="Google Shape;195;p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3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Nenhuma</a:t>
            </a:r>
            <a:r>
              <a:rPr lang="en-US" sz="900" dirty="0"/>
              <a:t> nova </a:t>
            </a:r>
            <a:r>
              <a:rPr lang="en-US" sz="900" dirty="0" err="1"/>
              <a:t>parcela</a:t>
            </a:r>
            <a:r>
              <a:rPr lang="en-US" sz="900" dirty="0"/>
              <a:t> </a:t>
            </a:r>
            <a:r>
              <a:rPr lang="en-US" sz="900" dirty="0" err="1"/>
              <a:t>recebida</a:t>
            </a:r>
            <a:r>
              <a:rPr lang="en-US" sz="900" dirty="0"/>
              <a:t> em </a:t>
            </a:r>
            <a:r>
              <a:rPr lang="en-US" sz="900" dirty="0" err="1"/>
              <a:t>junho</a:t>
            </a:r>
            <a:r>
              <a:rPr lang="en-US" sz="900" dirty="0"/>
              <a:t>. Total </a:t>
            </a:r>
            <a:r>
              <a:rPr lang="en-US" sz="900" dirty="0" err="1"/>
              <a:t>recebido</a:t>
            </a:r>
            <a:r>
              <a:rPr lang="en-US" sz="900" dirty="0"/>
              <a:t> </a:t>
            </a:r>
            <a:r>
              <a:rPr lang="en-US" sz="900" dirty="0" err="1"/>
              <a:t>mantém</a:t>
            </a:r>
            <a:r>
              <a:rPr lang="en-US" sz="900" dirty="0"/>
              <a:t>-se em R$ 2.161.631,23 (4 de 7 </a:t>
            </a:r>
            <a:r>
              <a:rPr lang="en-US" sz="900" dirty="0" err="1"/>
              <a:t>parcelas</a:t>
            </a:r>
            <a:r>
              <a:rPr lang="en-US" sz="900" dirty="0"/>
              <a:t>). </a:t>
            </a:r>
            <a:r>
              <a:rPr lang="en-US" sz="900" dirty="0" err="1"/>
              <a:t>Parcelas</a:t>
            </a:r>
            <a:r>
              <a:rPr lang="en-US" sz="900" dirty="0"/>
              <a:t> 05, 06 e 07 </a:t>
            </a:r>
            <a:r>
              <a:rPr lang="en-US" sz="900" dirty="0" err="1"/>
              <a:t>pendentes</a:t>
            </a:r>
            <a:r>
              <a:rPr lang="en-US" sz="900" dirty="0"/>
              <a:t> </a:t>
            </a:r>
            <a:r>
              <a:rPr lang="en-US" sz="900" dirty="0" err="1"/>
              <a:t>conforme</a:t>
            </a:r>
            <a:r>
              <a:rPr lang="en-US" sz="900" dirty="0"/>
              <a:t> </a:t>
            </a:r>
            <a:r>
              <a:rPr lang="en-US" sz="900" dirty="0" err="1"/>
              <a:t>cronograma</a:t>
            </a:r>
            <a:r>
              <a:rPr lang="en-US" sz="900" dirty="0"/>
              <a:t> de </a:t>
            </a:r>
            <a:r>
              <a:rPr lang="en-US" sz="900" dirty="0" err="1"/>
              <a:t>faturamento</a:t>
            </a:r>
            <a:r>
              <a:rPr lang="en-US" sz="900" dirty="0"/>
              <a:t> da NANSEN.</a:t>
            </a:r>
            <a:endParaRPr sz="900" dirty="0"/>
          </a:p>
        </p:txBody>
      </p:sp>
      <p:sp>
        <p:nvSpPr>
          <p:cNvPr id="284" name="Google Shape;284;p3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Execução acumulada de 58,4% do orçamento. Junho de baixa movimentação — entradas limitadas ao rendimento financeiro. Cronograma físico aderente (SPI ≈ 1,0).</a:t>
            </a:r>
            <a:endParaRPr sz="900"/>
          </a:p>
        </p:txBody>
      </p:sp>
      <p:sp>
        <p:nvSpPr>
          <p:cNvPr id="372" name="Google Shape;372;p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4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Macro 02 </a:t>
            </a:r>
            <a:r>
              <a:rPr lang="en-US" sz="900" dirty="0" err="1"/>
              <a:t>concluída</a:t>
            </a:r>
            <a:r>
              <a:rPr lang="en-US" sz="900" dirty="0"/>
              <a:t> (</a:t>
            </a:r>
            <a:r>
              <a:rPr lang="en-US" sz="900" dirty="0" err="1"/>
              <a:t>Documento</a:t>
            </a:r>
            <a:r>
              <a:rPr lang="en-US" sz="900" dirty="0"/>
              <a:t> de </a:t>
            </a:r>
            <a:r>
              <a:rPr lang="en-US" sz="900" dirty="0" err="1"/>
              <a:t>Requisitos</a:t>
            </a:r>
            <a:r>
              <a:rPr lang="en-US" sz="900" dirty="0"/>
              <a:t> </a:t>
            </a:r>
            <a:r>
              <a:rPr lang="en-US" sz="900" dirty="0" err="1"/>
              <a:t>consolidado</a:t>
            </a:r>
            <a:r>
              <a:rPr lang="en-US" sz="900" dirty="0"/>
              <a:t> e PoC </a:t>
            </a:r>
            <a:r>
              <a:rPr lang="en-US" sz="900" dirty="0" err="1"/>
              <a:t>implantada</a:t>
            </a:r>
            <a:r>
              <a:rPr lang="en-US" sz="900" dirty="0"/>
              <a:t>). Macro 03 </a:t>
            </a:r>
            <a:r>
              <a:rPr lang="en-US" sz="900" dirty="0" err="1"/>
              <a:t>iniciada</a:t>
            </a:r>
            <a:r>
              <a:rPr lang="en-US" sz="900" dirty="0"/>
              <a:t> e em franco </a:t>
            </a:r>
            <a:r>
              <a:rPr lang="en-US" sz="900" dirty="0" err="1"/>
              <a:t>avanço</a:t>
            </a:r>
            <a:r>
              <a:rPr lang="en-US" sz="900" dirty="0"/>
              <a:t> com a </a:t>
            </a:r>
            <a:r>
              <a:rPr lang="en-US" sz="900" dirty="0" err="1"/>
              <a:t>integração</a:t>
            </a:r>
            <a:r>
              <a:rPr lang="en-US" sz="900" dirty="0"/>
              <a:t> </a:t>
            </a:r>
            <a:r>
              <a:rPr lang="en-US" sz="900" dirty="0" err="1"/>
              <a:t>ML+Back-end+Agents</a:t>
            </a:r>
            <a:r>
              <a:rPr lang="en-US" sz="900" dirty="0"/>
              <a:t> e deploy no </a:t>
            </a:r>
            <a:r>
              <a:rPr lang="en-US" sz="900" dirty="0" err="1"/>
              <a:t>servidor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413" name="Google Shape;413;p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5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Junho: consolidação da integração ML+Back-end+Agents e implantação da PoC no servidor. Status geral verde, com atenção à performance do banco de dados e ao consumo energético.</a:t>
            </a:r>
            <a:endParaRPr sz="900"/>
          </a:p>
        </p:txBody>
      </p:sp>
      <p:sp>
        <p:nvSpPr>
          <p:cNvPr id="475" name="Google Shape;475;p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Front-end: escopo da Proposta 11 (multi-tenant) consolidado e interface redesenhada. Pronta para consumir as rotas de agentes (cards e chat).</a:t>
            </a:r>
            <a:endParaRPr sz="900"/>
          </a:p>
        </p:txBody>
      </p:sp>
      <p:sp>
        <p:nvSpPr>
          <p:cNvPr id="506" name="Google Shape;506;p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7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Back-end: PoC implantada no servidor e integrada aos agentes após correção de bugs (variáveis de ambiente e prompt padrão). Gargalos de performance identificados — otimização de BD é o foco dos próximos passos.</a:t>
            </a:r>
            <a:endParaRPr sz="900"/>
          </a:p>
        </p:txBody>
      </p:sp>
      <p:sp>
        <p:nvSpPr>
          <p:cNvPr id="531" name="Google Shape;531;p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8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p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ML/DL: </a:t>
            </a:r>
            <a:r>
              <a:rPr lang="en-US" sz="900" dirty="0" err="1"/>
              <a:t>integração</a:t>
            </a:r>
            <a:r>
              <a:rPr lang="en-US" sz="900" dirty="0"/>
              <a:t> com Back-end e Agents </a:t>
            </a:r>
            <a:r>
              <a:rPr lang="en-US" sz="900" dirty="0" err="1"/>
              <a:t>bem-sucedida</a:t>
            </a:r>
            <a:r>
              <a:rPr lang="en-US" sz="900" dirty="0"/>
              <a:t> e </a:t>
            </a:r>
            <a:r>
              <a:rPr lang="en-US" sz="900" dirty="0" err="1"/>
              <a:t>modelo</a:t>
            </a:r>
            <a:r>
              <a:rPr lang="en-US" sz="900" dirty="0"/>
              <a:t> em </a:t>
            </a:r>
            <a:r>
              <a:rPr lang="en-US" sz="900" dirty="0" err="1"/>
              <a:t>produção</a:t>
            </a:r>
            <a:r>
              <a:rPr lang="en-US" sz="900" dirty="0"/>
              <a:t>. </a:t>
            </a:r>
            <a:r>
              <a:rPr lang="en-US" sz="900" dirty="0" err="1"/>
              <a:t>Foco</a:t>
            </a:r>
            <a:r>
              <a:rPr lang="en-US" sz="900" dirty="0"/>
              <a:t> em </a:t>
            </a:r>
            <a:r>
              <a:rPr lang="en-US" sz="900" dirty="0" err="1"/>
              <a:t>calibração</a:t>
            </a:r>
            <a:r>
              <a:rPr lang="en-US" sz="900" dirty="0"/>
              <a:t> das </a:t>
            </a:r>
            <a:r>
              <a:rPr lang="en-US" sz="900" dirty="0" err="1"/>
              <a:t>probabilidades</a:t>
            </a:r>
            <a:r>
              <a:rPr lang="en-US" sz="900" dirty="0"/>
              <a:t>, testes com LSTM e </a:t>
            </a:r>
            <a:r>
              <a:rPr lang="en-US" sz="900" dirty="0" err="1"/>
              <a:t>estudo</a:t>
            </a:r>
            <a:r>
              <a:rPr lang="en-US" sz="900" dirty="0"/>
              <a:t> do </a:t>
            </a:r>
            <a:r>
              <a:rPr lang="en-US" sz="900" dirty="0" err="1"/>
              <a:t>OpenDSS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552" name="Google Shape;552;p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9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1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Agentes de IA: integração na versão 2 com agentes monitor, relator e RAG. Arquitetura multimodelo — modelo mais eficiente para análise/relato e o de menor latência para o RAG.</a:t>
            </a:r>
            <a:endParaRPr sz="900"/>
          </a:p>
        </p:txBody>
      </p:sp>
      <p:sp>
        <p:nvSpPr>
          <p:cNvPr id="578" name="Google Shape;578;p1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10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7" name="Google Shape;597;p1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DevOps: comparativo de consumo por modelo de LLM e evolução do consumo energético por sprint — aumento de 30% frente à média anterior, subsidiando o dimensionamento de energia e hardware.</a:t>
            </a:r>
            <a:endParaRPr sz="900"/>
          </a:p>
        </p:txBody>
      </p:sp>
      <p:sp>
        <p:nvSpPr>
          <p:cNvPr id="598" name="Google Shape;598;p1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11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Pesquisa Científica: validação dos dados e da integração agente–IA, apoio regulatório (NBR 16968, IEC 62056/DLMS) e disponibilização de informações sobre o OpenDSS.</a:t>
            </a:r>
            <a:endParaRPr sz="900"/>
          </a:p>
        </p:txBody>
      </p:sp>
      <p:sp>
        <p:nvSpPr>
          <p:cNvPr id="637" name="Google Shape;637;p1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12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13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PI em </a:t>
            </a:r>
            <a:r>
              <a:rPr lang="en-US" sz="900" dirty="0" err="1"/>
              <a:t>andamento</a:t>
            </a:r>
            <a:r>
              <a:rPr lang="en-US" sz="900" dirty="0"/>
              <a:t>: </a:t>
            </a:r>
            <a:r>
              <a:rPr lang="en-US" sz="900" dirty="0" err="1"/>
              <a:t>artigo</a:t>
            </a:r>
            <a:r>
              <a:rPr lang="en-US" sz="900" dirty="0"/>
              <a:t> </a:t>
            </a:r>
            <a:r>
              <a:rPr lang="en-US" sz="900" dirty="0" err="1"/>
              <a:t>submetido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IEACON 2026, </a:t>
            </a:r>
            <a:r>
              <a:rPr lang="en-US" sz="900" dirty="0" err="1"/>
              <a:t>artigo</a:t>
            </a:r>
            <a:r>
              <a:rPr lang="en-US" sz="900" dirty="0"/>
              <a:t> do </a:t>
            </a:r>
            <a:r>
              <a:rPr lang="en-US" sz="900" dirty="0" err="1"/>
              <a:t>projeto</a:t>
            </a:r>
            <a:r>
              <a:rPr lang="en-US" sz="900" dirty="0"/>
              <a:t> em </a:t>
            </a:r>
            <a:r>
              <a:rPr lang="en-US" sz="900" dirty="0" err="1"/>
              <a:t>revisão</a:t>
            </a:r>
            <a:r>
              <a:rPr lang="en-US" sz="900" dirty="0"/>
              <a:t> e </a:t>
            </a:r>
            <a:r>
              <a:rPr lang="en-US" sz="900" dirty="0" err="1"/>
              <a:t>Artigo</a:t>
            </a:r>
            <a:r>
              <a:rPr lang="en-US" sz="900" dirty="0"/>
              <a:t> 04 em </a:t>
            </a:r>
            <a:r>
              <a:rPr lang="en-US" sz="900" dirty="0" err="1"/>
              <a:t>estruturação</a:t>
            </a:r>
            <a:r>
              <a:rPr lang="en-US" sz="900" dirty="0"/>
              <a:t>. </a:t>
            </a:r>
            <a:r>
              <a:rPr lang="en-US" sz="900" dirty="0" err="1"/>
              <a:t>Registro</a:t>
            </a:r>
            <a:r>
              <a:rPr lang="en-US" sz="900" dirty="0"/>
              <a:t> de software junto </a:t>
            </a:r>
            <a:r>
              <a:rPr lang="en-US" sz="900" dirty="0" err="1"/>
              <a:t>ao</a:t>
            </a:r>
            <a:r>
              <a:rPr lang="en-US" sz="900" dirty="0"/>
              <a:t> INPI segue </a:t>
            </a:r>
            <a:r>
              <a:rPr lang="en-US" sz="900" dirty="0" err="1"/>
              <a:t>planejado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661" name="Google Shape;661;p13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13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9" name="Google Shape;689;p1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Integração</a:t>
            </a:r>
            <a:r>
              <a:rPr lang="en-US" sz="900" dirty="0"/>
              <a:t> via MCP </a:t>
            </a:r>
            <a:r>
              <a:rPr lang="en-US" sz="900" dirty="0" err="1"/>
              <a:t>passa</a:t>
            </a:r>
            <a:r>
              <a:rPr lang="en-US" sz="900" dirty="0"/>
              <a:t> a MITIGADO com a v2 </a:t>
            </a:r>
            <a:r>
              <a:rPr lang="en-US" sz="900" dirty="0" err="1"/>
              <a:t>concluída</a:t>
            </a:r>
            <a:r>
              <a:rPr lang="en-US" sz="900" dirty="0"/>
              <a:t>. </a:t>
            </a:r>
            <a:r>
              <a:rPr lang="en-US" sz="900" dirty="0" err="1"/>
              <a:t>Novos</a:t>
            </a:r>
            <a:r>
              <a:rPr lang="en-US" sz="900" dirty="0"/>
              <a:t> </a:t>
            </a:r>
            <a:r>
              <a:rPr lang="en-US" sz="900" dirty="0" err="1"/>
              <a:t>focos</a:t>
            </a:r>
            <a:r>
              <a:rPr lang="en-US" sz="900" dirty="0"/>
              <a:t> de </a:t>
            </a:r>
            <a:r>
              <a:rPr lang="en-US" sz="900" dirty="0" err="1"/>
              <a:t>monitoramento</a:t>
            </a:r>
            <a:r>
              <a:rPr lang="en-US" sz="900" dirty="0"/>
              <a:t>: performance em </a:t>
            </a:r>
            <a:r>
              <a:rPr lang="en-US" sz="900" dirty="0" err="1"/>
              <a:t>produção</a:t>
            </a:r>
            <a:r>
              <a:rPr lang="en-US" sz="900" dirty="0"/>
              <a:t> e </a:t>
            </a:r>
            <a:r>
              <a:rPr lang="en-US" sz="900" dirty="0" err="1"/>
              <a:t>consumo</a:t>
            </a:r>
            <a:r>
              <a:rPr lang="en-US" sz="900" dirty="0"/>
              <a:t> </a:t>
            </a:r>
            <a:r>
              <a:rPr lang="en-US" sz="900" dirty="0" err="1"/>
              <a:t>energético</a:t>
            </a:r>
            <a:r>
              <a:rPr lang="en-US" sz="900" dirty="0"/>
              <a:t> (novo </a:t>
            </a:r>
            <a:r>
              <a:rPr lang="en-US" sz="900" dirty="0" err="1"/>
              <a:t>risco</a:t>
            </a:r>
            <a:r>
              <a:rPr lang="en-US" sz="900" dirty="0"/>
              <a:t> R08).</a:t>
            </a:r>
            <a:endParaRPr sz="900" dirty="0"/>
          </a:p>
        </p:txBody>
      </p:sp>
      <p:sp>
        <p:nvSpPr>
          <p:cNvPr id="690" name="Google Shape;690;p1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14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1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Todo o acompanhamento — atividades, sprints e evidências — é registrado no OpenProject da INOVA/IFAM.</a:t>
            </a:r>
            <a:endParaRPr sz="900"/>
          </a:p>
        </p:txBody>
      </p:sp>
      <p:sp>
        <p:nvSpPr>
          <p:cNvPr id="764" name="Google Shape;764;p1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15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1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Encaminhamentos por equipe para o próximo ciclo, consolidando as prioridades levantadas na Sprint 9.</a:t>
            </a:r>
            <a:endParaRPr sz="900"/>
          </a:p>
        </p:txBody>
      </p:sp>
      <p:sp>
        <p:nvSpPr>
          <p:cNvPr id="777" name="Google Shape;777;p1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16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3" name="Google Shape;8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10" name="Google Shape;8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20"/>
          <p:cNvGrpSpPr/>
          <p:nvPr/>
        </p:nvGrpSpPr>
        <p:grpSpPr>
          <a:xfrm>
            <a:off x="0" y="-3572"/>
            <a:ext cx="4644008" cy="5155627"/>
            <a:chOff x="0" y="-3572"/>
            <a:chExt cx="6392864" cy="5155627"/>
          </a:xfrm>
        </p:grpSpPr>
        <p:sp>
          <p:nvSpPr>
            <p:cNvPr id="20" name="Google Shape;20;p20"/>
            <p:cNvSpPr/>
            <p:nvPr/>
          </p:nvSpPr>
          <p:spPr>
            <a:xfrm>
              <a:off x="0" y="0"/>
              <a:ext cx="5511800" cy="5143500"/>
            </a:xfrm>
            <a:custGeom>
              <a:avLst/>
              <a:gdLst/>
              <a:ahLst/>
              <a:cxnLst/>
              <a:rect l="l" t="t" r="r" b="b"/>
              <a:pathLst>
                <a:path w="13888" h="17280" extrusionOk="0">
                  <a:moveTo>
                    <a:pt x="4797" y="5143"/>
                  </a:moveTo>
                  <a:lnTo>
                    <a:pt x="13888" y="0"/>
                  </a:lnTo>
                  <a:lnTo>
                    <a:pt x="0" y="0"/>
                  </a:lnTo>
                  <a:lnTo>
                    <a:pt x="0" y="17280"/>
                  </a:lnTo>
                  <a:lnTo>
                    <a:pt x="7113" y="17280"/>
                  </a:lnTo>
                  <a:lnTo>
                    <a:pt x="3211" y="10385"/>
                  </a:lnTo>
                  <a:lnTo>
                    <a:pt x="3159" y="10289"/>
                  </a:lnTo>
                  <a:lnTo>
                    <a:pt x="3111" y="10192"/>
                  </a:lnTo>
                  <a:lnTo>
                    <a:pt x="3068" y="10094"/>
                  </a:lnTo>
                  <a:lnTo>
                    <a:pt x="3029" y="9994"/>
                  </a:lnTo>
                  <a:lnTo>
                    <a:pt x="2995" y="9895"/>
                  </a:lnTo>
                  <a:lnTo>
                    <a:pt x="2963" y="9795"/>
                  </a:lnTo>
                  <a:lnTo>
                    <a:pt x="2937" y="9693"/>
                  </a:lnTo>
                  <a:lnTo>
                    <a:pt x="2915" y="9591"/>
                  </a:lnTo>
                  <a:lnTo>
                    <a:pt x="2897" y="9490"/>
                  </a:lnTo>
                  <a:lnTo>
                    <a:pt x="2883" y="9387"/>
                  </a:lnTo>
                  <a:lnTo>
                    <a:pt x="2872" y="9285"/>
                  </a:lnTo>
                  <a:lnTo>
                    <a:pt x="2867" y="9182"/>
                  </a:lnTo>
                  <a:lnTo>
                    <a:pt x="2865" y="9081"/>
                  </a:lnTo>
                  <a:lnTo>
                    <a:pt x="2866" y="8978"/>
                  </a:lnTo>
                  <a:lnTo>
                    <a:pt x="2872" y="8877"/>
                  </a:lnTo>
                  <a:lnTo>
                    <a:pt x="2881" y="8775"/>
                  </a:lnTo>
                  <a:lnTo>
                    <a:pt x="2895" y="8675"/>
                  </a:lnTo>
                  <a:lnTo>
                    <a:pt x="2912" y="8574"/>
                  </a:lnTo>
                  <a:lnTo>
                    <a:pt x="2933" y="8475"/>
                  </a:lnTo>
                  <a:lnTo>
                    <a:pt x="2958" y="8376"/>
                  </a:lnTo>
                  <a:lnTo>
                    <a:pt x="2986" y="8278"/>
                  </a:lnTo>
                  <a:lnTo>
                    <a:pt x="3018" y="8182"/>
                  </a:lnTo>
                  <a:lnTo>
                    <a:pt x="3054" y="8087"/>
                  </a:lnTo>
                  <a:lnTo>
                    <a:pt x="3094" y="7993"/>
                  </a:lnTo>
                  <a:lnTo>
                    <a:pt x="3137" y="7901"/>
                  </a:lnTo>
                  <a:lnTo>
                    <a:pt x="3184" y="7811"/>
                  </a:lnTo>
                  <a:lnTo>
                    <a:pt x="3233" y="7722"/>
                  </a:lnTo>
                  <a:lnTo>
                    <a:pt x="3287" y="7635"/>
                  </a:lnTo>
                  <a:lnTo>
                    <a:pt x="3343" y="7549"/>
                  </a:lnTo>
                  <a:lnTo>
                    <a:pt x="3404" y="7466"/>
                  </a:lnTo>
                  <a:lnTo>
                    <a:pt x="3468" y="7385"/>
                  </a:lnTo>
                  <a:lnTo>
                    <a:pt x="3536" y="7306"/>
                  </a:lnTo>
                  <a:lnTo>
                    <a:pt x="3537" y="7225"/>
                  </a:lnTo>
                  <a:lnTo>
                    <a:pt x="3541" y="7144"/>
                  </a:lnTo>
                  <a:lnTo>
                    <a:pt x="3548" y="7064"/>
                  </a:lnTo>
                  <a:lnTo>
                    <a:pt x="3556" y="6983"/>
                  </a:lnTo>
                  <a:lnTo>
                    <a:pt x="3568" y="6903"/>
                  </a:lnTo>
                  <a:lnTo>
                    <a:pt x="3583" y="6825"/>
                  </a:lnTo>
                  <a:lnTo>
                    <a:pt x="3599" y="6746"/>
                  </a:lnTo>
                  <a:lnTo>
                    <a:pt x="3620" y="6667"/>
                  </a:lnTo>
                  <a:lnTo>
                    <a:pt x="3642" y="6590"/>
                  </a:lnTo>
                  <a:lnTo>
                    <a:pt x="3666" y="6513"/>
                  </a:lnTo>
                  <a:lnTo>
                    <a:pt x="3693" y="6437"/>
                  </a:lnTo>
                  <a:lnTo>
                    <a:pt x="3723" y="6362"/>
                  </a:lnTo>
                  <a:lnTo>
                    <a:pt x="3754" y="6288"/>
                  </a:lnTo>
                  <a:lnTo>
                    <a:pt x="3789" y="6214"/>
                  </a:lnTo>
                  <a:lnTo>
                    <a:pt x="3825" y="6142"/>
                  </a:lnTo>
                  <a:lnTo>
                    <a:pt x="3864" y="6072"/>
                  </a:lnTo>
                  <a:lnTo>
                    <a:pt x="3905" y="6002"/>
                  </a:lnTo>
                  <a:lnTo>
                    <a:pt x="3949" y="5932"/>
                  </a:lnTo>
                  <a:lnTo>
                    <a:pt x="3995" y="5865"/>
                  </a:lnTo>
                  <a:lnTo>
                    <a:pt x="4043" y="5800"/>
                  </a:lnTo>
                  <a:lnTo>
                    <a:pt x="4094" y="5736"/>
                  </a:lnTo>
                  <a:lnTo>
                    <a:pt x="4147" y="5673"/>
                  </a:lnTo>
                  <a:lnTo>
                    <a:pt x="4202" y="5612"/>
                  </a:lnTo>
                  <a:lnTo>
                    <a:pt x="4260" y="5552"/>
                  </a:lnTo>
                  <a:lnTo>
                    <a:pt x="4320" y="5494"/>
                  </a:lnTo>
                  <a:lnTo>
                    <a:pt x="4382" y="5438"/>
                  </a:lnTo>
                  <a:lnTo>
                    <a:pt x="4445" y="5384"/>
                  </a:lnTo>
                  <a:lnTo>
                    <a:pt x="4512" y="5332"/>
                  </a:lnTo>
                  <a:lnTo>
                    <a:pt x="4580" y="5281"/>
                  </a:lnTo>
                  <a:lnTo>
                    <a:pt x="4651" y="5233"/>
                  </a:lnTo>
                  <a:lnTo>
                    <a:pt x="4723" y="5187"/>
                  </a:lnTo>
                  <a:lnTo>
                    <a:pt x="4797" y="5143"/>
                  </a:lnTo>
                  <a:close/>
                </a:path>
              </a:pathLst>
            </a:custGeom>
            <a:solidFill>
              <a:srgbClr val="43B95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0"/>
            <p:cNvSpPr/>
            <p:nvPr/>
          </p:nvSpPr>
          <p:spPr>
            <a:xfrm>
              <a:off x="1403351" y="-3572"/>
              <a:ext cx="4989513" cy="2175272"/>
            </a:xfrm>
            <a:custGeom>
              <a:avLst/>
              <a:gdLst/>
              <a:ahLst/>
              <a:cxnLst/>
              <a:rect l="l" t="t" r="r" b="b"/>
              <a:pathLst>
                <a:path w="18858" h="10962" extrusionOk="0">
                  <a:moveTo>
                    <a:pt x="87" y="10868"/>
                  </a:moveTo>
                  <a:lnTo>
                    <a:pt x="138" y="10815"/>
                  </a:lnTo>
                  <a:lnTo>
                    <a:pt x="189" y="10763"/>
                  </a:lnTo>
                  <a:lnTo>
                    <a:pt x="242" y="10712"/>
                  </a:lnTo>
                  <a:lnTo>
                    <a:pt x="296" y="10663"/>
                  </a:lnTo>
                  <a:lnTo>
                    <a:pt x="350" y="10614"/>
                  </a:lnTo>
                  <a:lnTo>
                    <a:pt x="405" y="10566"/>
                  </a:lnTo>
                  <a:lnTo>
                    <a:pt x="463" y="10519"/>
                  </a:lnTo>
                  <a:lnTo>
                    <a:pt x="521" y="10473"/>
                  </a:lnTo>
                  <a:lnTo>
                    <a:pt x="580" y="10427"/>
                  </a:lnTo>
                  <a:lnTo>
                    <a:pt x="639" y="10382"/>
                  </a:lnTo>
                  <a:lnTo>
                    <a:pt x="700" y="10340"/>
                  </a:lnTo>
                  <a:lnTo>
                    <a:pt x="763" y="10297"/>
                  </a:lnTo>
                  <a:lnTo>
                    <a:pt x="825" y="10256"/>
                  </a:lnTo>
                  <a:lnTo>
                    <a:pt x="890" y="10216"/>
                  </a:lnTo>
                  <a:lnTo>
                    <a:pt x="955" y="10176"/>
                  </a:lnTo>
                  <a:lnTo>
                    <a:pt x="1021" y="10138"/>
                  </a:lnTo>
                  <a:lnTo>
                    <a:pt x="18858" y="0"/>
                  </a:lnTo>
                  <a:lnTo>
                    <a:pt x="15525" y="0"/>
                  </a:lnTo>
                  <a:lnTo>
                    <a:pt x="1893" y="7716"/>
                  </a:lnTo>
                  <a:lnTo>
                    <a:pt x="1781" y="7782"/>
                  </a:lnTo>
                  <a:lnTo>
                    <a:pt x="1672" y="7851"/>
                  </a:lnTo>
                  <a:lnTo>
                    <a:pt x="1566" y="7924"/>
                  </a:lnTo>
                  <a:lnTo>
                    <a:pt x="1464" y="7999"/>
                  </a:lnTo>
                  <a:lnTo>
                    <a:pt x="1365" y="8077"/>
                  </a:lnTo>
                  <a:lnTo>
                    <a:pt x="1269" y="8158"/>
                  </a:lnTo>
                  <a:lnTo>
                    <a:pt x="1176" y="8243"/>
                  </a:lnTo>
                  <a:lnTo>
                    <a:pt x="1087" y="8329"/>
                  </a:lnTo>
                  <a:lnTo>
                    <a:pt x="1001" y="8419"/>
                  </a:lnTo>
                  <a:lnTo>
                    <a:pt x="918" y="8511"/>
                  </a:lnTo>
                  <a:lnTo>
                    <a:pt x="838" y="8605"/>
                  </a:lnTo>
                  <a:lnTo>
                    <a:pt x="763" y="8702"/>
                  </a:lnTo>
                  <a:lnTo>
                    <a:pt x="689" y="8801"/>
                  </a:lnTo>
                  <a:lnTo>
                    <a:pt x="621" y="8901"/>
                  </a:lnTo>
                  <a:lnTo>
                    <a:pt x="555" y="9004"/>
                  </a:lnTo>
                  <a:lnTo>
                    <a:pt x="493" y="9109"/>
                  </a:lnTo>
                  <a:lnTo>
                    <a:pt x="435" y="9216"/>
                  </a:lnTo>
                  <a:lnTo>
                    <a:pt x="380" y="9323"/>
                  </a:lnTo>
                  <a:lnTo>
                    <a:pt x="328" y="9434"/>
                  </a:lnTo>
                  <a:lnTo>
                    <a:pt x="281" y="9545"/>
                  </a:lnTo>
                  <a:lnTo>
                    <a:pt x="237" y="9658"/>
                  </a:lnTo>
                  <a:lnTo>
                    <a:pt x="196" y="9771"/>
                  </a:lnTo>
                  <a:lnTo>
                    <a:pt x="159" y="9887"/>
                  </a:lnTo>
                  <a:lnTo>
                    <a:pt x="126" y="10004"/>
                  </a:lnTo>
                  <a:lnTo>
                    <a:pt x="97" y="10120"/>
                  </a:lnTo>
                  <a:lnTo>
                    <a:pt x="72" y="10239"/>
                  </a:lnTo>
                  <a:lnTo>
                    <a:pt x="50" y="10358"/>
                  </a:lnTo>
                  <a:lnTo>
                    <a:pt x="32" y="10477"/>
                  </a:lnTo>
                  <a:lnTo>
                    <a:pt x="18" y="10598"/>
                  </a:lnTo>
                  <a:lnTo>
                    <a:pt x="8" y="10719"/>
                  </a:lnTo>
                  <a:lnTo>
                    <a:pt x="2" y="10841"/>
                  </a:lnTo>
                  <a:lnTo>
                    <a:pt x="0" y="10962"/>
                  </a:lnTo>
                  <a:lnTo>
                    <a:pt x="1" y="10961"/>
                  </a:lnTo>
                  <a:lnTo>
                    <a:pt x="2" y="10960"/>
                  </a:lnTo>
                  <a:lnTo>
                    <a:pt x="12" y="10949"/>
                  </a:lnTo>
                  <a:lnTo>
                    <a:pt x="20" y="10940"/>
                  </a:lnTo>
                  <a:lnTo>
                    <a:pt x="32" y="10927"/>
                  </a:lnTo>
                  <a:lnTo>
                    <a:pt x="42" y="10915"/>
                  </a:lnTo>
                  <a:lnTo>
                    <a:pt x="53" y="10903"/>
                  </a:lnTo>
                  <a:lnTo>
                    <a:pt x="65" y="10891"/>
                  </a:lnTo>
                  <a:lnTo>
                    <a:pt x="75" y="10879"/>
                  </a:lnTo>
                  <a:lnTo>
                    <a:pt x="87" y="10868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0"/>
            <p:cNvSpPr/>
            <p:nvPr/>
          </p:nvSpPr>
          <p:spPr>
            <a:xfrm>
              <a:off x="1124495" y="2185017"/>
              <a:ext cx="2359025" cy="2967038"/>
            </a:xfrm>
            <a:custGeom>
              <a:avLst/>
              <a:gdLst/>
              <a:ahLst/>
              <a:cxnLst/>
              <a:rect l="l" t="t" r="r" b="b"/>
              <a:pathLst>
                <a:path w="10402" h="17444" extrusionOk="0">
                  <a:moveTo>
                    <a:pt x="1174" y="1"/>
                  </a:move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1"/>
                  </a:lnTo>
                  <a:close/>
                  <a:moveTo>
                    <a:pt x="10402" y="17444"/>
                  </a:moveTo>
                  <a:lnTo>
                    <a:pt x="1739" y="2143"/>
                  </a:lnTo>
                  <a:lnTo>
                    <a:pt x="1695" y="2065"/>
                  </a:lnTo>
                  <a:lnTo>
                    <a:pt x="1653" y="1985"/>
                  </a:lnTo>
                  <a:lnTo>
                    <a:pt x="1613" y="1906"/>
                  </a:lnTo>
                  <a:lnTo>
                    <a:pt x="1575" y="1826"/>
                  </a:lnTo>
                  <a:lnTo>
                    <a:pt x="1538" y="1744"/>
                  </a:lnTo>
                  <a:lnTo>
                    <a:pt x="1504" y="1664"/>
                  </a:lnTo>
                  <a:lnTo>
                    <a:pt x="1472" y="1582"/>
                  </a:lnTo>
                  <a:lnTo>
                    <a:pt x="1440" y="1500"/>
                  </a:lnTo>
                  <a:lnTo>
                    <a:pt x="1411" y="1418"/>
                  </a:lnTo>
                  <a:lnTo>
                    <a:pt x="1383" y="1336"/>
                  </a:lnTo>
                  <a:lnTo>
                    <a:pt x="1357" y="1253"/>
                  </a:lnTo>
                  <a:lnTo>
                    <a:pt x="1333" y="1170"/>
                  </a:lnTo>
                  <a:lnTo>
                    <a:pt x="1311" y="1086"/>
                  </a:lnTo>
                  <a:lnTo>
                    <a:pt x="1291" y="1003"/>
                  </a:lnTo>
                  <a:lnTo>
                    <a:pt x="1271" y="919"/>
                  </a:lnTo>
                  <a:lnTo>
                    <a:pt x="1253" y="835"/>
                  </a:lnTo>
                  <a:lnTo>
                    <a:pt x="1252" y="826"/>
                  </a:lnTo>
                  <a:lnTo>
                    <a:pt x="1250" y="818"/>
                  </a:lnTo>
                  <a:lnTo>
                    <a:pt x="1249" y="809"/>
                  </a:lnTo>
                  <a:lnTo>
                    <a:pt x="1247" y="800"/>
                  </a:lnTo>
                  <a:lnTo>
                    <a:pt x="1244" y="784"/>
                  </a:lnTo>
                  <a:lnTo>
                    <a:pt x="1241" y="766"/>
                  </a:lnTo>
                  <a:lnTo>
                    <a:pt x="1238" y="750"/>
                  </a:lnTo>
                  <a:lnTo>
                    <a:pt x="1235" y="733"/>
                  </a:lnTo>
                  <a:lnTo>
                    <a:pt x="1234" y="723"/>
                  </a:lnTo>
                  <a:lnTo>
                    <a:pt x="1232" y="713"/>
                  </a:lnTo>
                  <a:lnTo>
                    <a:pt x="1231" y="703"/>
                  </a:lnTo>
                  <a:lnTo>
                    <a:pt x="1228" y="693"/>
                  </a:lnTo>
                  <a:lnTo>
                    <a:pt x="1226" y="677"/>
                  </a:lnTo>
                  <a:lnTo>
                    <a:pt x="1224" y="661"/>
                  </a:lnTo>
                  <a:lnTo>
                    <a:pt x="1221" y="645"/>
                  </a:lnTo>
                  <a:lnTo>
                    <a:pt x="1219" y="629"/>
                  </a:lnTo>
                  <a:lnTo>
                    <a:pt x="1217" y="619"/>
                  </a:lnTo>
                  <a:lnTo>
                    <a:pt x="1216" y="608"/>
                  </a:lnTo>
                  <a:lnTo>
                    <a:pt x="1214" y="597"/>
                  </a:lnTo>
                  <a:lnTo>
                    <a:pt x="1213" y="587"/>
                  </a:lnTo>
                  <a:lnTo>
                    <a:pt x="1209" y="553"/>
                  </a:lnTo>
                  <a:lnTo>
                    <a:pt x="1204" y="519"/>
                  </a:lnTo>
                  <a:lnTo>
                    <a:pt x="1200" y="486"/>
                  </a:lnTo>
                  <a:lnTo>
                    <a:pt x="1197" y="452"/>
                  </a:lnTo>
                  <a:lnTo>
                    <a:pt x="1193" y="419"/>
                  </a:lnTo>
                  <a:lnTo>
                    <a:pt x="1190" y="385"/>
                  </a:lnTo>
                  <a:lnTo>
                    <a:pt x="1188" y="351"/>
                  </a:lnTo>
                  <a:lnTo>
                    <a:pt x="1185" y="317"/>
                  </a:lnTo>
                  <a:lnTo>
                    <a:pt x="1184" y="304"/>
                  </a:lnTo>
                  <a:lnTo>
                    <a:pt x="1184" y="292"/>
                  </a:lnTo>
                  <a:lnTo>
                    <a:pt x="1183" y="279"/>
                  </a:lnTo>
                  <a:lnTo>
                    <a:pt x="1181" y="266"/>
                  </a:lnTo>
                  <a:lnTo>
                    <a:pt x="1181" y="253"/>
                  </a:lnTo>
                  <a:lnTo>
                    <a:pt x="1180" y="240"/>
                  </a:lnTo>
                  <a:lnTo>
                    <a:pt x="1179" y="227"/>
                  </a:lnTo>
                  <a:lnTo>
                    <a:pt x="1179" y="214"/>
                  </a:lnTo>
                  <a:lnTo>
                    <a:pt x="1178" y="201"/>
                  </a:lnTo>
                  <a:lnTo>
                    <a:pt x="1178" y="188"/>
                  </a:lnTo>
                  <a:lnTo>
                    <a:pt x="1177" y="174"/>
                  </a:lnTo>
                  <a:lnTo>
                    <a:pt x="1177" y="160"/>
                  </a:lnTo>
                  <a:lnTo>
                    <a:pt x="1176" y="147"/>
                  </a:lnTo>
                  <a:lnTo>
                    <a:pt x="1176" y="134"/>
                  </a:lnTo>
                  <a:lnTo>
                    <a:pt x="1175" y="120"/>
                  </a:lnTo>
                  <a:lnTo>
                    <a:pt x="1175" y="107"/>
                  </a:lnTo>
                  <a:lnTo>
                    <a:pt x="1175" y="94"/>
                  </a:lnTo>
                  <a:lnTo>
                    <a:pt x="1175" y="80"/>
                  </a:lnTo>
                  <a:lnTo>
                    <a:pt x="1174" y="67"/>
                  </a:lnTo>
                  <a:lnTo>
                    <a:pt x="1174" y="52"/>
                  </a:lnTo>
                  <a:lnTo>
                    <a:pt x="1174" y="39"/>
                  </a:lnTo>
                  <a:lnTo>
                    <a:pt x="1174" y="26"/>
                  </a:lnTo>
                  <a:lnTo>
                    <a:pt x="1174" y="14"/>
                  </a:lnTo>
                  <a:lnTo>
                    <a:pt x="1174" y="1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056" y="137"/>
                  </a:lnTo>
                  <a:lnTo>
                    <a:pt x="945" y="279"/>
                  </a:lnTo>
                  <a:lnTo>
                    <a:pt x="839" y="425"/>
                  </a:lnTo>
                  <a:lnTo>
                    <a:pt x="739" y="575"/>
                  </a:lnTo>
                  <a:lnTo>
                    <a:pt x="646" y="726"/>
                  </a:lnTo>
                  <a:lnTo>
                    <a:pt x="557" y="882"/>
                  </a:lnTo>
                  <a:lnTo>
                    <a:pt x="477" y="1041"/>
                  </a:lnTo>
                  <a:lnTo>
                    <a:pt x="401" y="1203"/>
                  </a:lnTo>
                  <a:lnTo>
                    <a:pt x="333" y="1366"/>
                  </a:lnTo>
                  <a:lnTo>
                    <a:pt x="269" y="1532"/>
                  </a:lnTo>
                  <a:lnTo>
                    <a:pt x="214" y="1701"/>
                  </a:lnTo>
                  <a:lnTo>
                    <a:pt x="164" y="1871"/>
                  </a:lnTo>
                  <a:lnTo>
                    <a:pt x="120" y="2043"/>
                  </a:lnTo>
                  <a:lnTo>
                    <a:pt x="84" y="2218"/>
                  </a:lnTo>
                  <a:lnTo>
                    <a:pt x="53" y="2392"/>
                  </a:lnTo>
                  <a:lnTo>
                    <a:pt x="29" y="2569"/>
                  </a:lnTo>
                  <a:lnTo>
                    <a:pt x="13" y="2745"/>
                  </a:lnTo>
                  <a:lnTo>
                    <a:pt x="3" y="2924"/>
                  </a:lnTo>
                  <a:lnTo>
                    <a:pt x="0" y="3103"/>
                  </a:lnTo>
                  <a:lnTo>
                    <a:pt x="3" y="3282"/>
                  </a:lnTo>
                  <a:lnTo>
                    <a:pt x="14" y="3460"/>
                  </a:lnTo>
                  <a:lnTo>
                    <a:pt x="32" y="3639"/>
                  </a:lnTo>
                  <a:lnTo>
                    <a:pt x="57" y="3818"/>
                  </a:lnTo>
                  <a:lnTo>
                    <a:pt x="88" y="3997"/>
                  </a:lnTo>
                  <a:lnTo>
                    <a:pt x="128" y="4175"/>
                  </a:lnTo>
                  <a:lnTo>
                    <a:pt x="173" y="4351"/>
                  </a:lnTo>
                  <a:lnTo>
                    <a:pt x="227" y="4527"/>
                  </a:lnTo>
                  <a:lnTo>
                    <a:pt x="288" y="4702"/>
                  </a:lnTo>
                  <a:lnTo>
                    <a:pt x="356" y="4876"/>
                  </a:lnTo>
                  <a:lnTo>
                    <a:pt x="431" y="5047"/>
                  </a:lnTo>
                  <a:lnTo>
                    <a:pt x="514" y="5217"/>
                  </a:lnTo>
                  <a:lnTo>
                    <a:pt x="604" y="5384"/>
                  </a:lnTo>
                  <a:lnTo>
                    <a:pt x="7434" y="17444"/>
                  </a:lnTo>
                  <a:lnTo>
                    <a:pt x="10402" y="17444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20"/>
          <p:cNvSpPr>
            <a:spLocks noGrp="1"/>
          </p:cNvSpPr>
          <p:nvPr>
            <p:ph type="ctrTitle"/>
          </p:nvPr>
        </p:nvSpPr>
        <p:spPr>
          <a:xfrm>
            <a:off x="2772360" y="3240743"/>
            <a:ext cx="5402836" cy="821849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>
            <a:spLocks noGrp="1"/>
          </p:cNvSpPr>
          <p:nvPr>
            <p:ph type="subTitle" idx="1"/>
          </p:nvPr>
        </p:nvSpPr>
        <p:spPr>
          <a:xfrm>
            <a:off x="3203848" y="4217290"/>
            <a:ext cx="5256584" cy="584592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4437" y="1753931"/>
            <a:ext cx="4819141" cy="133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conteúdo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/>
          <p:nvPr/>
        </p:nvSpPr>
        <p:spPr>
          <a:xfrm>
            <a:off x="1589" y="4707732"/>
            <a:ext cx="9140825" cy="435769"/>
          </a:xfrm>
          <a:custGeom>
            <a:avLst/>
            <a:gdLst/>
            <a:ahLst/>
            <a:cxnLst/>
            <a:rect l="l" t="t" r="r" b="b"/>
            <a:pathLst>
              <a:path w="17274" h="1098" extrusionOk="0">
                <a:moveTo>
                  <a:pt x="0" y="0"/>
                </a:moveTo>
                <a:lnTo>
                  <a:pt x="15969" y="0"/>
                </a:lnTo>
                <a:lnTo>
                  <a:pt x="15987" y="0"/>
                </a:lnTo>
                <a:lnTo>
                  <a:pt x="15987" y="1"/>
                </a:lnTo>
                <a:lnTo>
                  <a:pt x="15999" y="2"/>
                </a:lnTo>
                <a:lnTo>
                  <a:pt x="16010" y="4"/>
                </a:lnTo>
                <a:lnTo>
                  <a:pt x="16021" y="6"/>
                </a:lnTo>
                <a:lnTo>
                  <a:pt x="16031" y="10"/>
                </a:lnTo>
                <a:lnTo>
                  <a:pt x="16042" y="13"/>
                </a:lnTo>
                <a:lnTo>
                  <a:pt x="16052" y="17"/>
                </a:lnTo>
                <a:lnTo>
                  <a:pt x="16062" y="22"/>
                </a:lnTo>
                <a:lnTo>
                  <a:pt x="16071" y="27"/>
                </a:lnTo>
                <a:lnTo>
                  <a:pt x="16078" y="30"/>
                </a:lnTo>
                <a:lnTo>
                  <a:pt x="16084" y="35"/>
                </a:lnTo>
                <a:lnTo>
                  <a:pt x="16084" y="35"/>
                </a:lnTo>
                <a:lnTo>
                  <a:pt x="16094" y="41"/>
                </a:lnTo>
                <a:lnTo>
                  <a:pt x="16104" y="49"/>
                </a:lnTo>
                <a:lnTo>
                  <a:pt x="16112" y="56"/>
                </a:lnTo>
                <a:lnTo>
                  <a:pt x="16121" y="65"/>
                </a:lnTo>
                <a:lnTo>
                  <a:pt x="16121" y="65"/>
                </a:lnTo>
                <a:lnTo>
                  <a:pt x="16124" y="68"/>
                </a:lnTo>
                <a:lnTo>
                  <a:pt x="16124" y="69"/>
                </a:lnTo>
                <a:lnTo>
                  <a:pt x="16127" y="71"/>
                </a:lnTo>
                <a:lnTo>
                  <a:pt x="16127" y="72"/>
                </a:lnTo>
                <a:lnTo>
                  <a:pt x="16130" y="76"/>
                </a:lnTo>
                <a:lnTo>
                  <a:pt x="16131" y="77"/>
                </a:lnTo>
                <a:lnTo>
                  <a:pt x="16133" y="79"/>
                </a:lnTo>
                <a:lnTo>
                  <a:pt x="16134" y="80"/>
                </a:lnTo>
                <a:lnTo>
                  <a:pt x="16136" y="83"/>
                </a:lnTo>
                <a:lnTo>
                  <a:pt x="16137" y="83"/>
                </a:lnTo>
                <a:lnTo>
                  <a:pt x="16139" y="86"/>
                </a:lnTo>
                <a:lnTo>
                  <a:pt x="16140" y="88"/>
                </a:lnTo>
                <a:lnTo>
                  <a:pt x="16141" y="91"/>
                </a:lnTo>
                <a:lnTo>
                  <a:pt x="16144" y="92"/>
                </a:lnTo>
                <a:lnTo>
                  <a:pt x="16145" y="95"/>
                </a:lnTo>
                <a:lnTo>
                  <a:pt x="16146" y="96"/>
                </a:lnTo>
                <a:lnTo>
                  <a:pt x="16148" y="99"/>
                </a:lnTo>
                <a:lnTo>
                  <a:pt x="16148" y="99"/>
                </a:lnTo>
                <a:lnTo>
                  <a:pt x="16150" y="104"/>
                </a:lnTo>
                <a:lnTo>
                  <a:pt x="16150" y="104"/>
                </a:lnTo>
                <a:lnTo>
                  <a:pt x="16152" y="107"/>
                </a:lnTo>
                <a:lnTo>
                  <a:pt x="16153" y="109"/>
                </a:lnTo>
                <a:lnTo>
                  <a:pt x="16156" y="111"/>
                </a:lnTo>
                <a:lnTo>
                  <a:pt x="16156" y="112"/>
                </a:lnTo>
                <a:lnTo>
                  <a:pt x="16158" y="117"/>
                </a:lnTo>
                <a:lnTo>
                  <a:pt x="16160" y="120"/>
                </a:lnTo>
                <a:lnTo>
                  <a:pt x="16160" y="121"/>
                </a:lnTo>
                <a:lnTo>
                  <a:pt x="16161" y="123"/>
                </a:lnTo>
                <a:lnTo>
                  <a:pt x="16162" y="125"/>
                </a:lnTo>
                <a:lnTo>
                  <a:pt x="16162" y="125"/>
                </a:lnTo>
                <a:lnTo>
                  <a:pt x="16163" y="128"/>
                </a:lnTo>
                <a:lnTo>
                  <a:pt x="16163" y="130"/>
                </a:lnTo>
                <a:lnTo>
                  <a:pt x="16163" y="130"/>
                </a:lnTo>
                <a:lnTo>
                  <a:pt x="16164" y="132"/>
                </a:lnTo>
                <a:lnTo>
                  <a:pt x="16165" y="134"/>
                </a:lnTo>
                <a:lnTo>
                  <a:pt x="16165" y="134"/>
                </a:lnTo>
                <a:lnTo>
                  <a:pt x="16167" y="138"/>
                </a:lnTo>
                <a:lnTo>
                  <a:pt x="16167" y="138"/>
                </a:lnTo>
                <a:lnTo>
                  <a:pt x="16168" y="142"/>
                </a:lnTo>
                <a:lnTo>
                  <a:pt x="16168" y="144"/>
                </a:lnTo>
                <a:lnTo>
                  <a:pt x="16170" y="146"/>
                </a:lnTo>
                <a:lnTo>
                  <a:pt x="16171" y="149"/>
                </a:lnTo>
                <a:lnTo>
                  <a:pt x="16171" y="150"/>
                </a:lnTo>
                <a:lnTo>
                  <a:pt x="16172" y="153"/>
                </a:lnTo>
                <a:lnTo>
                  <a:pt x="16173" y="156"/>
                </a:lnTo>
                <a:lnTo>
                  <a:pt x="16174" y="158"/>
                </a:lnTo>
                <a:lnTo>
                  <a:pt x="16174" y="161"/>
                </a:lnTo>
                <a:lnTo>
                  <a:pt x="16175" y="163"/>
                </a:lnTo>
                <a:lnTo>
                  <a:pt x="16175" y="165"/>
                </a:lnTo>
                <a:lnTo>
                  <a:pt x="16176" y="169"/>
                </a:lnTo>
                <a:lnTo>
                  <a:pt x="16176" y="171"/>
                </a:lnTo>
                <a:lnTo>
                  <a:pt x="16177" y="174"/>
                </a:lnTo>
                <a:lnTo>
                  <a:pt x="16177" y="175"/>
                </a:lnTo>
                <a:lnTo>
                  <a:pt x="16178" y="178"/>
                </a:lnTo>
                <a:lnTo>
                  <a:pt x="16178" y="180"/>
                </a:lnTo>
                <a:lnTo>
                  <a:pt x="16178" y="183"/>
                </a:lnTo>
                <a:lnTo>
                  <a:pt x="16179" y="186"/>
                </a:lnTo>
                <a:lnTo>
                  <a:pt x="16179" y="189"/>
                </a:lnTo>
                <a:lnTo>
                  <a:pt x="16179" y="189"/>
                </a:lnTo>
                <a:lnTo>
                  <a:pt x="16182" y="170"/>
                </a:lnTo>
                <a:lnTo>
                  <a:pt x="16188" y="151"/>
                </a:lnTo>
                <a:lnTo>
                  <a:pt x="16194" y="133"/>
                </a:lnTo>
                <a:lnTo>
                  <a:pt x="16203" y="116"/>
                </a:lnTo>
                <a:lnTo>
                  <a:pt x="16213" y="98"/>
                </a:lnTo>
                <a:lnTo>
                  <a:pt x="16224" y="83"/>
                </a:lnTo>
                <a:lnTo>
                  <a:pt x="16235" y="68"/>
                </a:lnTo>
                <a:lnTo>
                  <a:pt x="16249" y="55"/>
                </a:lnTo>
                <a:lnTo>
                  <a:pt x="16263" y="43"/>
                </a:lnTo>
                <a:lnTo>
                  <a:pt x="16279" y="32"/>
                </a:lnTo>
                <a:lnTo>
                  <a:pt x="16295" y="23"/>
                </a:lnTo>
                <a:lnTo>
                  <a:pt x="16312" y="15"/>
                </a:lnTo>
                <a:lnTo>
                  <a:pt x="16330" y="9"/>
                </a:lnTo>
                <a:lnTo>
                  <a:pt x="16349" y="4"/>
                </a:lnTo>
                <a:lnTo>
                  <a:pt x="16368" y="1"/>
                </a:lnTo>
                <a:lnTo>
                  <a:pt x="16389" y="0"/>
                </a:lnTo>
                <a:lnTo>
                  <a:pt x="17062" y="0"/>
                </a:lnTo>
                <a:lnTo>
                  <a:pt x="17073" y="0"/>
                </a:lnTo>
                <a:lnTo>
                  <a:pt x="17084" y="1"/>
                </a:lnTo>
                <a:lnTo>
                  <a:pt x="17095" y="2"/>
                </a:lnTo>
                <a:lnTo>
                  <a:pt x="17104" y="4"/>
                </a:lnTo>
                <a:lnTo>
                  <a:pt x="17125" y="10"/>
                </a:lnTo>
                <a:lnTo>
                  <a:pt x="17144" y="16"/>
                </a:lnTo>
                <a:lnTo>
                  <a:pt x="17163" y="26"/>
                </a:lnTo>
                <a:lnTo>
                  <a:pt x="17180" y="37"/>
                </a:lnTo>
                <a:lnTo>
                  <a:pt x="17196" y="49"/>
                </a:lnTo>
                <a:lnTo>
                  <a:pt x="17211" y="63"/>
                </a:lnTo>
                <a:lnTo>
                  <a:pt x="17225" y="78"/>
                </a:lnTo>
                <a:lnTo>
                  <a:pt x="17237" y="94"/>
                </a:lnTo>
                <a:lnTo>
                  <a:pt x="17248" y="111"/>
                </a:lnTo>
                <a:lnTo>
                  <a:pt x="17258" y="130"/>
                </a:lnTo>
                <a:lnTo>
                  <a:pt x="17264" y="149"/>
                </a:lnTo>
                <a:lnTo>
                  <a:pt x="17270" y="170"/>
                </a:lnTo>
                <a:lnTo>
                  <a:pt x="17272" y="179"/>
                </a:lnTo>
                <a:lnTo>
                  <a:pt x="17273" y="190"/>
                </a:lnTo>
                <a:lnTo>
                  <a:pt x="17274" y="201"/>
                </a:lnTo>
                <a:lnTo>
                  <a:pt x="17274" y="212"/>
                </a:lnTo>
                <a:lnTo>
                  <a:pt x="17274" y="1098"/>
                </a:lnTo>
                <a:lnTo>
                  <a:pt x="16194" y="1098"/>
                </a:lnTo>
                <a:lnTo>
                  <a:pt x="15115" y="1098"/>
                </a:lnTo>
                <a:lnTo>
                  <a:pt x="14035" y="1098"/>
                </a:lnTo>
                <a:lnTo>
                  <a:pt x="12956" y="1098"/>
                </a:lnTo>
                <a:lnTo>
                  <a:pt x="11876" y="1098"/>
                </a:lnTo>
                <a:lnTo>
                  <a:pt x="10796" y="1098"/>
                </a:lnTo>
                <a:lnTo>
                  <a:pt x="9717" y="1098"/>
                </a:lnTo>
                <a:lnTo>
                  <a:pt x="8637" y="1098"/>
                </a:lnTo>
                <a:lnTo>
                  <a:pt x="7557" y="1098"/>
                </a:lnTo>
                <a:lnTo>
                  <a:pt x="6478" y="1098"/>
                </a:lnTo>
                <a:lnTo>
                  <a:pt x="5398" y="1098"/>
                </a:lnTo>
                <a:lnTo>
                  <a:pt x="4319" y="1098"/>
                </a:lnTo>
                <a:lnTo>
                  <a:pt x="3239" y="1098"/>
                </a:lnTo>
                <a:lnTo>
                  <a:pt x="2159" y="1098"/>
                </a:lnTo>
                <a:lnTo>
                  <a:pt x="1080" y="1098"/>
                </a:lnTo>
                <a:lnTo>
                  <a:pt x="0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457200" y="-857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457200" y="84355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4" name="Google Shape;34;p22"/>
          <p:cNvSpPr txBox="1"/>
          <p:nvPr/>
        </p:nvSpPr>
        <p:spPr>
          <a:xfrm>
            <a:off x="5652120" y="4812630"/>
            <a:ext cx="2808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2"/>
          <p:cNvCxnSpPr/>
          <p:nvPr/>
        </p:nvCxnSpPr>
        <p:spPr>
          <a:xfrm>
            <a:off x="457200" y="699542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" name="Google Shape;36;p22"/>
          <p:cNvGrpSpPr/>
          <p:nvPr/>
        </p:nvGrpSpPr>
        <p:grpSpPr>
          <a:xfrm>
            <a:off x="99884" y="4769520"/>
            <a:ext cx="1152128" cy="299650"/>
            <a:chOff x="68" y="3004"/>
            <a:chExt cx="719" cy="187"/>
          </a:xfrm>
        </p:grpSpPr>
        <p:sp>
          <p:nvSpPr>
            <p:cNvPr id="37" name="Google Shape;37;p22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2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2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2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2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2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2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2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2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2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2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2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2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2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2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2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2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2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2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2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2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2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2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2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>
            <a:spLocks noGrp="1"/>
          </p:cNvSpPr>
          <p:nvPr>
            <p:ph type="title"/>
          </p:nvPr>
        </p:nvSpPr>
        <p:spPr>
          <a:xfrm>
            <a:off x="2001985" y="1779662"/>
            <a:ext cx="5402836" cy="1027540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>
            <a:spLocks noGrp="1"/>
          </p:cNvSpPr>
          <p:nvPr>
            <p:ph type="body" idx="1"/>
          </p:nvPr>
        </p:nvSpPr>
        <p:spPr>
          <a:xfrm>
            <a:off x="2530555" y="2942483"/>
            <a:ext cx="5256584" cy="584593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-3572"/>
            <a:ext cx="4644008" cy="5155627"/>
            <a:chOff x="0" y="-3572"/>
            <a:chExt cx="6392864" cy="5155627"/>
          </a:xfrm>
        </p:grpSpPr>
        <p:sp>
          <p:nvSpPr>
            <p:cNvPr id="70" name="Google Shape;70;p23"/>
            <p:cNvSpPr/>
            <p:nvPr/>
          </p:nvSpPr>
          <p:spPr>
            <a:xfrm>
              <a:off x="0" y="0"/>
              <a:ext cx="5511800" cy="5143500"/>
            </a:xfrm>
            <a:custGeom>
              <a:avLst/>
              <a:gdLst/>
              <a:ahLst/>
              <a:cxnLst/>
              <a:rect l="l" t="t" r="r" b="b"/>
              <a:pathLst>
                <a:path w="13888" h="17280" extrusionOk="0">
                  <a:moveTo>
                    <a:pt x="4797" y="5143"/>
                  </a:moveTo>
                  <a:lnTo>
                    <a:pt x="13888" y="0"/>
                  </a:lnTo>
                  <a:lnTo>
                    <a:pt x="0" y="0"/>
                  </a:lnTo>
                  <a:lnTo>
                    <a:pt x="0" y="17280"/>
                  </a:lnTo>
                  <a:lnTo>
                    <a:pt x="7113" y="17280"/>
                  </a:lnTo>
                  <a:lnTo>
                    <a:pt x="3211" y="10385"/>
                  </a:lnTo>
                  <a:lnTo>
                    <a:pt x="3159" y="10289"/>
                  </a:lnTo>
                  <a:lnTo>
                    <a:pt x="3111" y="10192"/>
                  </a:lnTo>
                  <a:lnTo>
                    <a:pt x="3068" y="10094"/>
                  </a:lnTo>
                  <a:lnTo>
                    <a:pt x="3029" y="9994"/>
                  </a:lnTo>
                  <a:lnTo>
                    <a:pt x="2995" y="9895"/>
                  </a:lnTo>
                  <a:lnTo>
                    <a:pt x="2963" y="9795"/>
                  </a:lnTo>
                  <a:lnTo>
                    <a:pt x="2937" y="9693"/>
                  </a:lnTo>
                  <a:lnTo>
                    <a:pt x="2915" y="9591"/>
                  </a:lnTo>
                  <a:lnTo>
                    <a:pt x="2897" y="9490"/>
                  </a:lnTo>
                  <a:lnTo>
                    <a:pt x="2883" y="9387"/>
                  </a:lnTo>
                  <a:lnTo>
                    <a:pt x="2872" y="9285"/>
                  </a:lnTo>
                  <a:lnTo>
                    <a:pt x="2867" y="9182"/>
                  </a:lnTo>
                  <a:lnTo>
                    <a:pt x="2865" y="9081"/>
                  </a:lnTo>
                  <a:lnTo>
                    <a:pt x="2866" y="8978"/>
                  </a:lnTo>
                  <a:lnTo>
                    <a:pt x="2872" y="8877"/>
                  </a:lnTo>
                  <a:lnTo>
                    <a:pt x="2881" y="8775"/>
                  </a:lnTo>
                  <a:lnTo>
                    <a:pt x="2895" y="8675"/>
                  </a:lnTo>
                  <a:lnTo>
                    <a:pt x="2912" y="8574"/>
                  </a:lnTo>
                  <a:lnTo>
                    <a:pt x="2933" y="8475"/>
                  </a:lnTo>
                  <a:lnTo>
                    <a:pt x="2958" y="8376"/>
                  </a:lnTo>
                  <a:lnTo>
                    <a:pt x="2986" y="8278"/>
                  </a:lnTo>
                  <a:lnTo>
                    <a:pt x="3018" y="8182"/>
                  </a:lnTo>
                  <a:lnTo>
                    <a:pt x="3054" y="8087"/>
                  </a:lnTo>
                  <a:lnTo>
                    <a:pt x="3094" y="7993"/>
                  </a:lnTo>
                  <a:lnTo>
                    <a:pt x="3137" y="7901"/>
                  </a:lnTo>
                  <a:lnTo>
                    <a:pt x="3184" y="7811"/>
                  </a:lnTo>
                  <a:lnTo>
                    <a:pt x="3233" y="7722"/>
                  </a:lnTo>
                  <a:lnTo>
                    <a:pt x="3287" y="7635"/>
                  </a:lnTo>
                  <a:lnTo>
                    <a:pt x="3343" y="7549"/>
                  </a:lnTo>
                  <a:lnTo>
                    <a:pt x="3404" y="7466"/>
                  </a:lnTo>
                  <a:lnTo>
                    <a:pt x="3468" y="7385"/>
                  </a:lnTo>
                  <a:lnTo>
                    <a:pt x="3536" y="7306"/>
                  </a:lnTo>
                  <a:lnTo>
                    <a:pt x="3537" y="7225"/>
                  </a:lnTo>
                  <a:lnTo>
                    <a:pt x="3541" y="7144"/>
                  </a:lnTo>
                  <a:lnTo>
                    <a:pt x="3548" y="7064"/>
                  </a:lnTo>
                  <a:lnTo>
                    <a:pt x="3556" y="6983"/>
                  </a:lnTo>
                  <a:lnTo>
                    <a:pt x="3568" y="6903"/>
                  </a:lnTo>
                  <a:lnTo>
                    <a:pt x="3583" y="6825"/>
                  </a:lnTo>
                  <a:lnTo>
                    <a:pt x="3599" y="6746"/>
                  </a:lnTo>
                  <a:lnTo>
                    <a:pt x="3620" y="6667"/>
                  </a:lnTo>
                  <a:lnTo>
                    <a:pt x="3642" y="6590"/>
                  </a:lnTo>
                  <a:lnTo>
                    <a:pt x="3666" y="6513"/>
                  </a:lnTo>
                  <a:lnTo>
                    <a:pt x="3693" y="6437"/>
                  </a:lnTo>
                  <a:lnTo>
                    <a:pt x="3723" y="6362"/>
                  </a:lnTo>
                  <a:lnTo>
                    <a:pt x="3754" y="6288"/>
                  </a:lnTo>
                  <a:lnTo>
                    <a:pt x="3789" y="6214"/>
                  </a:lnTo>
                  <a:lnTo>
                    <a:pt x="3825" y="6142"/>
                  </a:lnTo>
                  <a:lnTo>
                    <a:pt x="3864" y="6072"/>
                  </a:lnTo>
                  <a:lnTo>
                    <a:pt x="3905" y="6002"/>
                  </a:lnTo>
                  <a:lnTo>
                    <a:pt x="3949" y="5932"/>
                  </a:lnTo>
                  <a:lnTo>
                    <a:pt x="3995" y="5865"/>
                  </a:lnTo>
                  <a:lnTo>
                    <a:pt x="4043" y="5800"/>
                  </a:lnTo>
                  <a:lnTo>
                    <a:pt x="4094" y="5736"/>
                  </a:lnTo>
                  <a:lnTo>
                    <a:pt x="4147" y="5673"/>
                  </a:lnTo>
                  <a:lnTo>
                    <a:pt x="4202" y="5612"/>
                  </a:lnTo>
                  <a:lnTo>
                    <a:pt x="4260" y="5552"/>
                  </a:lnTo>
                  <a:lnTo>
                    <a:pt x="4320" y="5494"/>
                  </a:lnTo>
                  <a:lnTo>
                    <a:pt x="4382" y="5438"/>
                  </a:lnTo>
                  <a:lnTo>
                    <a:pt x="4445" y="5384"/>
                  </a:lnTo>
                  <a:lnTo>
                    <a:pt x="4512" y="5332"/>
                  </a:lnTo>
                  <a:lnTo>
                    <a:pt x="4580" y="5281"/>
                  </a:lnTo>
                  <a:lnTo>
                    <a:pt x="4651" y="5233"/>
                  </a:lnTo>
                  <a:lnTo>
                    <a:pt x="4723" y="5187"/>
                  </a:lnTo>
                  <a:lnTo>
                    <a:pt x="4797" y="5143"/>
                  </a:lnTo>
                  <a:close/>
                </a:path>
              </a:pathLst>
            </a:custGeom>
            <a:solidFill>
              <a:srgbClr val="43B95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1403351" y="-3572"/>
              <a:ext cx="4989513" cy="2175272"/>
            </a:xfrm>
            <a:custGeom>
              <a:avLst/>
              <a:gdLst/>
              <a:ahLst/>
              <a:cxnLst/>
              <a:rect l="l" t="t" r="r" b="b"/>
              <a:pathLst>
                <a:path w="18858" h="10962" extrusionOk="0">
                  <a:moveTo>
                    <a:pt x="87" y="10868"/>
                  </a:moveTo>
                  <a:lnTo>
                    <a:pt x="138" y="10815"/>
                  </a:lnTo>
                  <a:lnTo>
                    <a:pt x="189" y="10763"/>
                  </a:lnTo>
                  <a:lnTo>
                    <a:pt x="242" y="10712"/>
                  </a:lnTo>
                  <a:lnTo>
                    <a:pt x="296" y="10663"/>
                  </a:lnTo>
                  <a:lnTo>
                    <a:pt x="350" y="10614"/>
                  </a:lnTo>
                  <a:lnTo>
                    <a:pt x="405" y="10566"/>
                  </a:lnTo>
                  <a:lnTo>
                    <a:pt x="463" y="10519"/>
                  </a:lnTo>
                  <a:lnTo>
                    <a:pt x="521" y="10473"/>
                  </a:lnTo>
                  <a:lnTo>
                    <a:pt x="580" y="10427"/>
                  </a:lnTo>
                  <a:lnTo>
                    <a:pt x="639" y="10382"/>
                  </a:lnTo>
                  <a:lnTo>
                    <a:pt x="700" y="10340"/>
                  </a:lnTo>
                  <a:lnTo>
                    <a:pt x="763" y="10297"/>
                  </a:lnTo>
                  <a:lnTo>
                    <a:pt x="825" y="10256"/>
                  </a:lnTo>
                  <a:lnTo>
                    <a:pt x="890" y="10216"/>
                  </a:lnTo>
                  <a:lnTo>
                    <a:pt x="955" y="10176"/>
                  </a:lnTo>
                  <a:lnTo>
                    <a:pt x="1021" y="10138"/>
                  </a:lnTo>
                  <a:lnTo>
                    <a:pt x="18858" y="0"/>
                  </a:lnTo>
                  <a:lnTo>
                    <a:pt x="15525" y="0"/>
                  </a:lnTo>
                  <a:lnTo>
                    <a:pt x="1893" y="7716"/>
                  </a:lnTo>
                  <a:lnTo>
                    <a:pt x="1781" y="7782"/>
                  </a:lnTo>
                  <a:lnTo>
                    <a:pt x="1672" y="7851"/>
                  </a:lnTo>
                  <a:lnTo>
                    <a:pt x="1566" y="7924"/>
                  </a:lnTo>
                  <a:lnTo>
                    <a:pt x="1464" y="7999"/>
                  </a:lnTo>
                  <a:lnTo>
                    <a:pt x="1365" y="8077"/>
                  </a:lnTo>
                  <a:lnTo>
                    <a:pt x="1269" y="8158"/>
                  </a:lnTo>
                  <a:lnTo>
                    <a:pt x="1176" y="8243"/>
                  </a:lnTo>
                  <a:lnTo>
                    <a:pt x="1087" y="8329"/>
                  </a:lnTo>
                  <a:lnTo>
                    <a:pt x="1001" y="8419"/>
                  </a:lnTo>
                  <a:lnTo>
                    <a:pt x="918" y="8511"/>
                  </a:lnTo>
                  <a:lnTo>
                    <a:pt x="838" y="8605"/>
                  </a:lnTo>
                  <a:lnTo>
                    <a:pt x="763" y="8702"/>
                  </a:lnTo>
                  <a:lnTo>
                    <a:pt x="689" y="8801"/>
                  </a:lnTo>
                  <a:lnTo>
                    <a:pt x="621" y="8901"/>
                  </a:lnTo>
                  <a:lnTo>
                    <a:pt x="555" y="9004"/>
                  </a:lnTo>
                  <a:lnTo>
                    <a:pt x="493" y="9109"/>
                  </a:lnTo>
                  <a:lnTo>
                    <a:pt x="435" y="9216"/>
                  </a:lnTo>
                  <a:lnTo>
                    <a:pt x="380" y="9323"/>
                  </a:lnTo>
                  <a:lnTo>
                    <a:pt x="328" y="9434"/>
                  </a:lnTo>
                  <a:lnTo>
                    <a:pt x="281" y="9545"/>
                  </a:lnTo>
                  <a:lnTo>
                    <a:pt x="237" y="9658"/>
                  </a:lnTo>
                  <a:lnTo>
                    <a:pt x="196" y="9771"/>
                  </a:lnTo>
                  <a:lnTo>
                    <a:pt x="159" y="9887"/>
                  </a:lnTo>
                  <a:lnTo>
                    <a:pt x="126" y="10004"/>
                  </a:lnTo>
                  <a:lnTo>
                    <a:pt x="97" y="10120"/>
                  </a:lnTo>
                  <a:lnTo>
                    <a:pt x="72" y="10239"/>
                  </a:lnTo>
                  <a:lnTo>
                    <a:pt x="50" y="10358"/>
                  </a:lnTo>
                  <a:lnTo>
                    <a:pt x="32" y="10477"/>
                  </a:lnTo>
                  <a:lnTo>
                    <a:pt x="18" y="10598"/>
                  </a:lnTo>
                  <a:lnTo>
                    <a:pt x="8" y="10719"/>
                  </a:lnTo>
                  <a:lnTo>
                    <a:pt x="2" y="10841"/>
                  </a:lnTo>
                  <a:lnTo>
                    <a:pt x="0" y="10962"/>
                  </a:lnTo>
                  <a:lnTo>
                    <a:pt x="1" y="10961"/>
                  </a:lnTo>
                  <a:lnTo>
                    <a:pt x="2" y="10960"/>
                  </a:lnTo>
                  <a:lnTo>
                    <a:pt x="12" y="10949"/>
                  </a:lnTo>
                  <a:lnTo>
                    <a:pt x="20" y="10940"/>
                  </a:lnTo>
                  <a:lnTo>
                    <a:pt x="32" y="10927"/>
                  </a:lnTo>
                  <a:lnTo>
                    <a:pt x="42" y="10915"/>
                  </a:lnTo>
                  <a:lnTo>
                    <a:pt x="53" y="10903"/>
                  </a:lnTo>
                  <a:lnTo>
                    <a:pt x="65" y="10891"/>
                  </a:lnTo>
                  <a:lnTo>
                    <a:pt x="75" y="10879"/>
                  </a:lnTo>
                  <a:lnTo>
                    <a:pt x="87" y="10868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3"/>
            <p:cNvSpPr/>
            <p:nvPr/>
          </p:nvSpPr>
          <p:spPr>
            <a:xfrm>
              <a:off x="1124495" y="2185017"/>
              <a:ext cx="2359025" cy="2967038"/>
            </a:xfrm>
            <a:custGeom>
              <a:avLst/>
              <a:gdLst/>
              <a:ahLst/>
              <a:cxnLst/>
              <a:rect l="l" t="t" r="r" b="b"/>
              <a:pathLst>
                <a:path w="10402" h="17444" extrusionOk="0">
                  <a:moveTo>
                    <a:pt x="1174" y="1"/>
                  </a:move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1"/>
                  </a:lnTo>
                  <a:close/>
                  <a:moveTo>
                    <a:pt x="10402" y="17444"/>
                  </a:moveTo>
                  <a:lnTo>
                    <a:pt x="1739" y="2143"/>
                  </a:lnTo>
                  <a:lnTo>
                    <a:pt x="1695" y="2065"/>
                  </a:lnTo>
                  <a:lnTo>
                    <a:pt x="1653" y="1985"/>
                  </a:lnTo>
                  <a:lnTo>
                    <a:pt x="1613" y="1906"/>
                  </a:lnTo>
                  <a:lnTo>
                    <a:pt x="1575" y="1826"/>
                  </a:lnTo>
                  <a:lnTo>
                    <a:pt x="1538" y="1744"/>
                  </a:lnTo>
                  <a:lnTo>
                    <a:pt x="1504" y="1664"/>
                  </a:lnTo>
                  <a:lnTo>
                    <a:pt x="1472" y="1582"/>
                  </a:lnTo>
                  <a:lnTo>
                    <a:pt x="1440" y="1500"/>
                  </a:lnTo>
                  <a:lnTo>
                    <a:pt x="1411" y="1418"/>
                  </a:lnTo>
                  <a:lnTo>
                    <a:pt x="1383" y="1336"/>
                  </a:lnTo>
                  <a:lnTo>
                    <a:pt x="1357" y="1253"/>
                  </a:lnTo>
                  <a:lnTo>
                    <a:pt x="1333" y="1170"/>
                  </a:lnTo>
                  <a:lnTo>
                    <a:pt x="1311" y="1086"/>
                  </a:lnTo>
                  <a:lnTo>
                    <a:pt x="1291" y="1003"/>
                  </a:lnTo>
                  <a:lnTo>
                    <a:pt x="1271" y="919"/>
                  </a:lnTo>
                  <a:lnTo>
                    <a:pt x="1253" y="835"/>
                  </a:lnTo>
                  <a:lnTo>
                    <a:pt x="1252" y="826"/>
                  </a:lnTo>
                  <a:lnTo>
                    <a:pt x="1250" y="818"/>
                  </a:lnTo>
                  <a:lnTo>
                    <a:pt x="1249" y="809"/>
                  </a:lnTo>
                  <a:lnTo>
                    <a:pt x="1247" y="800"/>
                  </a:lnTo>
                  <a:lnTo>
                    <a:pt x="1244" y="784"/>
                  </a:lnTo>
                  <a:lnTo>
                    <a:pt x="1241" y="766"/>
                  </a:lnTo>
                  <a:lnTo>
                    <a:pt x="1238" y="750"/>
                  </a:lnTo>
                  <a:lnTo>
                    <a:pt x="1235" y="733"/>
                  </a:lnTo>
                  <a:lnTo>
                    <a:pt x="1234" y="723"/>
                  </a:lnTo>
                  <a:lnTo>
                    <a:pt x="1232" y="713"/>
                  </a:lnTo>
                  <a:lnTo>
                    <a:pt x="1231" y="703"/>
                  </a:lnTo>
                  <a:lnTo>
                    <a:pt x="1228" y="693"/>
                  </a:lnTo>
                  <a:lnTo>
                    <a:pt x="1226" y="677"/>
                  </a:lnTo>
                  <a:lnTo>
                    <a:pt x="1224" y="661"/>
                  </a:lnTo>
                  <a:lnTo>
                    <a:pt x="1221" y="645"/>
                  </a:lnTo>
                  <a:lnTo>
                    <a:pt x="1219" y="629"/>
                  </a:lnTo>
                  <a:lnTo>
                    <a:pt x="1217" y="619"/>
                  </a:lnTo>
                  <a:lnTo>
                    <a:pt x="1216" y="608"/>
                  </a:lnTo>
                  <a:lnTo>
                    <a:pt x="1214" y="597"/>
                  </a:lnTo>
                  <a:lnTo>
                    <a:pt x="1213" y="587"/>
                  </a:lnTo>
                  <a:lnTo>
                    <a:pt x="1209" y="553"/>
                  </a:lnTo>
                  <a:lnTo>
                    <a:pt x="1204" y="519"/>
                  </a:lnTo>
                  <a:lnTo>
                    <a:pt x="1200" y="486"/>
                  </a:lnTo>
                  <a:lnTo>
                    <a:pt x="1197" y="452"/>
                  </a:lnTo>
                  <a:lnTo>
                    <a:pt x="1193" y="419"/>
                  </a:lnTo>
                  <a:lnTo>
                    <a:pt x="1190" y="385"/>
                  </a:lnTo>
                  <a:lnTo>
                    <a:pt x="1188" y="351"/>
                  </a:lnTo>
                  <a:lnTo>
                    <a:pt x="1185" y="317"/>
                  </a:lnTo>
                  <a:lnTo>
                    <a:pt x="1184" y="304"/>
                  </a:lnTo>
                  <a:lnTo>
                    <a:pt x="1184" y="292"/>
                  </a:lnTo>
                  <a:lnTo>
                    <a:pt x="1183" y="279"/>
                  </a:lnTo>
                  <a:lnTo>
                    <a:pt x="1181" y="266"/>
                  </a:lnTo>
                  <a:lnTo>
                    <a:pt x="1181" y="253"/>
                  </a:lnTo>
                  <a:lnTo>
                    <a:pt x="1180" y="240"/>
                  </a:lnTo>
                  <a:lnTo>
                    <a:pt x="1179" y="227"/>
                  </a:lnTo>
                  <a:lnTo>
                    <a:pt x="1179" y="214"/>
                  </a:lnTo>
                  <a:lnTo>
                    <a:pt x="1178" y="201"/>
                  </a:lnTo>
                  <a:lnTo>
                    <a:pt x="1178" y="188"/>
                  </a:lnTo>
                  <a:lnTo>
                    <a:pt x="1177" y="174"/>
                  </a:lnTo>
                  <a:lnTo>
                    <a:pt x="1177" y="160"/>
                  </a:lnTo>
                  <a:lnTo>
                    <a:pt x="1176" y="147"/>
                  </a:lnTo>
                  <a:lnTo>
                    <a:pt x="1176" y="134"/>
                  </a:lnTo>
                  <a:lnTo>
                    <a:pt x="1175" y="120"/>
                  </a:lnTo>
                  <a:lnTo>
                    <a:pt x="1175" y="107"/>
                  </a:lnTo>
                  <a:lnTo>
                    <a:pt x="1175" y="94"/>
                  </a:lnTo>
                  <a:lnTo>
                    <a:pt x="1175" y="80"/>
                  </a:lnTo>
                  <a:lnTo>
                    <a:pt x="1174" y="67"/>
                  </a:lnTo>
                  <a:lnTo>
                    <a:pt x="1174" y="52"/>
                  </a:lnTo>
                  <a:lnTo>
                    <a:pt x="1174" y="39"/>
                  </a:lnTo>
                  <a:lnTo>
                    <a:pt x="1174" y="26"/>
                  </a:lnTo>
                  <a:lnTo>
                    <a:pt x="1174" y="14"/>
                  </a:lnTo>
                  <a:lnTo>
                    <a:pt x="1174" y="1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056" y="137"/>
                  </a:lnTo>
                  <a:lnTo>
                    <a:pt x="945" y="279"/>
                  </a:lnTo>
                  <a:lnTo>
                    <a:pt x="839" y="425"/>
                  </a:lnTo>
                  <a:lnTo>
                    <a:pt x="739" y="575"/>
                  </a:lnTo>
                  <a:lnTo>
                    <a:pt x="646" y="726"/>
                  </a:lnTo>
                  <a:lnTo>
                    <a:pt x="557" y="882"/>
                  </a:lnTo>
                  <a:lnTo>
                    <a:pt x="477" y="1041"/>
                  </a:lnTo>
                  <a:lnTo>
                    <a:pt x="401" y="1203"/>
                  </a:lnTo>
                  <a:lnTo>
                    <a:pt x="333" y="1366"/>
                  </a:lnTo>
                  <a:lnTo>
                    <a:pt x="269" y="1532"/>
                  </a:lnTo>
                  <a:lnTo>
                    <a:pt x="214" y="1701"/>
                  </a:lnTo>
                  <a:lnTo>
                    <a:pt x="164" y="1871"/>
                  </a:lnTo>
                  <a:lnTo>
                    <a:pt x="120" y="2043"/>
                  </a:lnTo>
                  <a:lnTo>
                    <a:pt x="84" y="2218"/>
                  </a:lnTo>
                  <a:lnTo>
                    <a:pt x="53" y="2392"/>
                  </a:lnTo>
                  <a:lnTo>
                    <a:pt x="29" y="2569"/>
                  </a:lnTo>
                  <a:lnTo>
                    <a:pt x="13" y="2745"/>
                  </a:lnTo>
                  <a:lnTo>
                    <a:pt x="3" y="2924"/>
                  </a:lnTo>
                  <a:lnTo>
                    <a:pt x="0" y="3103"/>
                  </a:lnTo>
                  <a:lnTo>
                    <a:pt x="3" y="3282"/>
                  </a:lnTo>
                  <a:lnTo>
                    <a:pt x="14" y="3460"/>
                  </a:lnTo>
                  <a:lnTo>
                    <a:pt x="32" y="3639"/>
                  </a:lnTo>
                  <a:lnTo>
                    <a:pt x="57" y="3818"/>
                  </a:lnTo>
                  <a:lnTo>
                    <a:pt x="88" y="3997"/>
                  </a:lnTo>
                  <a:lnTo>
                    <a:pt x="128" y="4175"/>
                  </a:lnTo>
                  <a:lnTo>
                    <a:pt x="173" y="4351"/>
                  </a:lnTo>
                  <a:lnTo>
                    <a:pt x="227" y="4527"/>
                  </a:lnTo>
                  <a:lnTo>
                    <a:pt x="288" y="4702"/>
                  </a:lnTo>
                  <a:lnTo>
                    <a:pt x="356" y="4876"/>
                  </a:lnTo>
                  <a:lnTo>
                    <a:pt x="431" y="5047"/>
                  </a:lnTo>
                  <a:lnTo>
                    <a:pt x="514" y="5217"/>
                  </a:lnTo>
                  <a:lnTo>
                    <a:pt x="604" y="5384"/>
                  </a:lnTo>
                  <a:lnTo>
                    <a:pt x="7434" y="17444"/>
                  </a:lnTo>
                  <a:lnTo>
                    <a:pt x="10402" y="17444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23"/>
          <p:cNvGrpSpPr/>
          <p:nvPr/>
        </p:nvGrpSpPr>
        <p:grpSpPr>
          <a:xfrm>
            <a:off x="280020" y="195486"/>
            <a:ext cx="2491780" cy="648072"/>
            <a:chOff x="68" y="3004"/>
            <a:chExt cx="719" cy="187"/>
          </a:xfrm>
        </p:grpSpPr>
        <p:sp>
          <p:nvSpPr>
            <p:cNvPr id="74" name="Google Shape;74;p23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3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3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3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3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3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3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3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07" name="Google Shape;107;p24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ção" type="twoTxTwoObj">
  <p:cSld name="TWO_OBJECTS_WITH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17" name="Google Shape;117;p25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ente título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23" name="Google Shape;123;p26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 branco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589" y="4707732"/>
            <a:ext cx="9140825" cy="435769"/>
          </a:xfrm>
          <a:custGeom>
            <a:avLst/>
            <a:gdLst/>
            <a:ahLst/>
            <a:cxnLst/>
            <a:rect l="l" t="t" r="r" b="b"/>
            <a:pathLst>
              <a:path w="17274" h="1098" extrusionOk="0">
                <a:moveTo>
                  <a:pt x="0" y="0"/>
                </a:moveTo>
                <a:lnTo>
                  <a:pt x="15969" y="0"/>
                </a:lnTo>
                <a:lnTo>
                  <a:pt x="15987" y="0"/>
                </a:lnTo>
                <a:lnTo>
                  <a:pt x="15987" y="1"/>
                </a:lnTo>
                <a:lnTo>
                  <a:pt x="15999" y="2"/>
                </a:lnTo>
                <a:lnTo>
                  <a:pt x="16010" y="4"/>
                </a:lnTo>
                <a:lnTo>
                  <a:pt x="16021" y="6"/>
                </a:lnTo>
                <a:lnTo>
                  <a:pt x="16031" y="10"/>
                </a:lnTo>
                <a:lnTo>
                  <a:pt x="16042" y="13"/>
                </a:lnTo>
                <a:lnTo>
                  <a:pt x="16052" y="17"/>
                </a:lnTo>
                <a:lnTo>
                  <a:pt x="16062" y="22"/>
                </a:lnTo>
                <a:lnTo>
                  <a:pt x="16071" y="27"/>
                </a:lnTo>
                <a:lnTo>
                  <a:pt x="16078" y="30"/>
                </a:lnTo>
                <a:lnTo>
                  <a:pt x="16084" y="35"/>
                </a:lnTo>
                <a:lnTo>
                  <a:pt x="16084" y="35"/>
                </a:lnTo>
                <a:lnTo>
                  <a:pt x="16094" y="41"/>
                </a:lnTo>
                <a:lnTo>
                  <a:pt x="16104" y="49"/>
                </a:lnTo>
                <a:lnTo>
                  <a:pt x="16112" y="56"/>
                </a:lnTo>
                <a:lnTo>
                  <a:pt x="16121" y="65"/>
                </a:lnTo>
                <a:lnTo>
                  <a:pt x="16121" y="65"/>
                </a:lnTo>
                <a:lnTo>
                  <a:pt x="16124" y="68"/>
                </a:lnTo>
                <a:lnTo>
                  <a:pt x="16124" y="69"/>
                </a:lnTo>
                <a:lnTo>
                  <a:pt x="16127" y="71"/>
                </a:lnTo>
                <a:lnTo>
                  <a:pt x="16127" y="72"/>
                </a:lnTo>
                <a:lnTo>
                  <a:pt x="16130" y="76"/>
                </a:lnTo>
                <a:lnTo>
                  <a:pt x="16131" y="77"/>
                </a:lnTo>
                <a:lnTo>
                  <a:pt x="16133" y="79"/>
                </a:lnTo>
                <a:lnTo>
                  <a:pt x="16134" y="80"/>
                </a:lnTo>
                <a:lnTo>
                  <a:pt x="16136" y="83"/>
                </a:lnTo>
                <a:lnTo>
                  <a:pt x="16137" y="83"/>
                </a:lnTo>
                <a:lnTo>
                  <a:pt x="16139" y="86"/>
                </a:lnTo>
                <a:lnTo>
                  <a:pt x="16140" y="88"/>
                </a:lnTo>
                <a:lnTo>
                  <a:pt x="16141" y="91"/>
                </a:lnTo>
                <a:lnTo>
                  <a:pt x="16144" y="92"/>
                </a:lnTo>
                <a:lnTo>
                  <a:pt x="16145" y="95"/>
                </a:lnTo>
                <a:lnTo>
                  <a:pt x="16146" y="96"/>
                </a:lnTo>
                <a:lnTo>
                  <a:pt x="16148" y="99"/>
                </a:lnTo>
                <a:lnTo>
                  <a:pt x="16148" y="99"/>
                </a:lnTo>
                <a:lnTo>
                  <a:pt x="16150" y="104"/>
                </a:lnTo>
                <a:lnTo>
                  <a:pt x="16150" y="104"/>
                </a:lnTo>
                <a:lnTo>
                  <a:pt x="16152" y="107"/>
                </a:lnTo>
                <a:lnTo>
                  <a:pt x="16153" y="109"/>
                </a:lnTo>
                <a:lnTo>
                  <a:pt x="16156" y="111"/>
                </a:lnTo>
                <a:lnTo>
                  <a:pt x="16156" y="112"/>
                </a:lnTo>
                <a:lnTo>
                  <a:pt x="16158" y="117"/>
                </a:lnTo>
                <a:lnTo>
                  <a:pt x="16160" y="120"/>
                </a:lnTo>
                <a:lnTo>
                  <a:pt x="16160" y="121"/>
                </a:lnTo>
                <a:lnTo>
                  <a:pt x="16161" y="123"/>
                </a:lnTo>
                <a:lnTo>
                  <a:pt x="16162" y="125"/>
                </a:lnTo>
                <a:lnTo>
                  <a:pt x="16162" y="125"/>
                </a:lnTo>
                <a:lnTo>
                  <a:pt x="16163" y="128"/>
                </a:lnTo>
                <a:lnTo>
                  <a:pt x="16163" y="130"/>
                </a:lnTo>
                <a:lnTo>
                  <a:pt x="16163" y="130"/>
                </a:lnTo>
                <a:lnTo>
                  <a:pt x="16164" y="132"/>
                </a:lnTo>
                <a:lnTo>
                  <a:pt x="16165" y="134"/>
                </a:lnTo>
                <a:lnTo>
                  <a:pt x="16165" y="134"/>
                </a:lnTo>
                <a:lnTo>
                  <a:pt x="16167" y="138"/>
                </a:lnTo>
                <a:lnTo>
                  <a:pt x="16167" y="138"/>
                </a:lnTo>
                <a:lnTo>
                  <a:pt x="16168" y="142"/>
                </a:lnTo>
                <a:lnTo>
                  <a:pt x="16168" y="144"/>
                </a:lnTo>
                <a:lnTo>
                  <a:pt x="16170" y="146"/>
                </a:lnTo>
                <a:lnTo>
                  <a:pt x="16171" y="149"/>
                </a:lnTo>
                <a:lnTo>
                  <a:pt x="16171" y="150"/>
                </a:lnTo>
                <a:lnTo>
                  <a:pt x="16172" y="153"/>
                </a:lnTo>
                <a:lnTo>
                  <a:pt x="16173" y="156"/>
                </a:lnTo>
                <a:lnTo>
                  <a:pt x="16174" y="158"/>
                </a:lnTo>
                <a:lnTo>
                  <a:pt x="16174" y="161"/>
                </a:lnTo>
                <a:lnTo>
                  <a:pt x="16175" y="163"/>
                </a:lnTo>
                <a:lnTo>
                  <a:pt x="16175" y="165"/>
                </a:lnTo>
                <a:lnTo>
                  <a:pt x="16176" y="169"/>
                </a:lnTo>
                <a:lnTo>
                  <a:pt x="16176" y="171"/>
                </a:lnTo>
                <a:lnTo>
                  <a:pt x="16177" y="174"/>
                </a:lnTo>
                <a:lnTo>
                  <a:pt x="16177" y="175"/>
                </a:lnTo>
                <a:lnTo>
                  <a:pt x="16178" y="178"/>
                </a:lnTo>
                <a:lnTo>
                  <a:pt x="16178" y="180"/>
                </a:lnTo>
                <a:lnTo>
                  <a:pt x="16178" y="183"/>
                </a:lnTo>
                <a:lnTo>
                  <a:pt x="16179" y="186"/>
                </a:lnTo>
                <a:lnTo>
                  <a:pt x="16179" y="189"/>
                </a:lnTo>
                <a:lnTo>
                  <a:pt x="16179" y="189"/>
                </a:lnTo>
                <a:lnTo>
                  <a:pt x="16182" y="170"/>
                </a:lnTo>
                <a:lnTo>
                  <a:pt x="16188" y="151"/>
                </a:lnTo>
                <a:lnTo>
                  <a:pt x="16194" y="133"/>
                </a:lnTo>
                <a:lnTo>
                  <a:pt x="16203" y="116"/>
                </a:lnTo>
                <a:lnTo>
                  <a:pt x="16213" y="98"/>
                </a:lnTo>
                <a:lnTo>
                  <a:pt x="16224" y="83"/>
                </a:lnTo>
                <a:lnTo>
                  <a:pt x="16235" y="68"/>
                </a:lnTo>
                <a:lnTo>
                  <a:pt x="16249" y="55"/>
                </a:lnTo>
                <a:lnTo>
                  <a:pt x="16263" y="43"/>
                </a:lnTo>
                <a:lnTo>
                  <a:pt x="16279" y="32"/>
                </a:lnTo>
                <a:lnTo>
                  <a:pt x="16295" y="23"/>
                </a:lnTo>
                <a:lnTo>
                  <a:pt x="16312" y="15"/>
                </a:lnTo>
                <a:lnTo>
                  <a:pt x="16330" y="9"/>
                </a:lnTo>
                <a:lnTo>
                  <a:pt x="16349" y="4"/>
                </a:lnTo>
                <a:lnTo>
                  <a:pt x="16368" y="1"/>
                </a:lnTo>
                <a:lnTo>
                  <a:pt x="16389" y="0"/>
                </a:lnTo>
                <a:lnTo>
                  <a:pt x="17062" y="0"/>
                </a:lnTo>
                <a:lnTo>
                  <a:pt x="17073" y="0"/>
                </a:lnTo>
                <a:lnTo>
                  <a:pt x="17084" y="1"/>
                </a:lnTo>
                <a:lnTo>
                  <a:pt x="17095" y="2"/>
                </a:lnTo>
                <a:lnTo>
                  <a:pt x="17104" y="4"/>
                </a:lnTo>
                <a:lnTo>
                  <a:pt x="17125" y="10"/>
                </a:lnTo>
                <a:lnTo>
                  <a:pt x="17144" y="16"/>
                </a:lnTo>
                <a:lnTo>
                  <a:pt x="17163" y="26"/>
                </a:lnTo>
                <a:lnTo>
                  <a:pt x="17180" y="37"/>
                </a:lnTo>
                <a:lnTo>
                  <a:pt x="17196" y="49"/>
                </a:lnTo>
                <a:lnTo>
                  <a:pt x="17211" y="63"/>
                </a:lnTo>
                <a:lnTo>
                  <a:pt x="17225" y="78"/>
                </a:lnTo>
                <a:lnTo>
                  <a:pt x="17237" y="94"/>
                </a:lnTo>
                <a:lnTo>
                  <a:pt x="17248" y="111"/>
                </a:lnTo>
                <a:lnTo>
                  <a:pt x="17258" y="130"/>
                </a:lnTo>
                <a:lnTo>
                  <a:pt x="17264" y="149"/>
                </a:lnTo>
                <a:lnTo>
                  <a:pt x="17270" y="170"/>
                </a:lnTo>
                <a:lnTo>
                  <a:pt x="17272" y="179"/>
                </a:lnTo>
                <a:lnTo>
                  <a:pt x="17273" y="190"/>
                </a:lnTo>
                <a:lnTo>
                  <a:pt x="17274" y="201"/>
                </a:lnTo>
                <a:lnTo>
                  <a:pt x="17274" y="212"/>
                </a:lnTo>
                <a:lnTo>
                  <a:pt x="17274" y="1098"/>
                </a:lnTo>
                <a:lnTo>
                  <a:pt x="16194" y="1098"/>
                </a:lnTo>
                <a:lnTo>
                  <a:pt x="15115" y="1098"/>
                </a:lnTo>
                <a:lnTo>
                  <a:pt x="14035" y="1098"/>
                </a:lnTo>
                <a:lnTo>
                  <a:pt x="12956" y="1098"/>
                </a:lnTo>
                <a:lnTo>
                  <a:pt x="11876" y="1098"/>
                </a:lnTo>
                <a:lnTo>
                  <a:pt x="10796" y="1098"/>
                </a:lnTo>
                <a:lnTo>
                  <a:pt x="9717" y="1098"/>
                </a:lnTo>
                <a:lnTo>
                  <a:pt x="8637" y="1098"/>
                </a:lnTo>
                <a:lnTo>
                  <a:pt x="7557" y="1098"/>
                </a:lnTo>
                <a:lnTo>
                  <a:pt x="6478" y="1098"/>
                </a:lnTo>
                <a:lnTo>
                  <a:pt x="5398" y="1098"/>
                </a:lnTo>
                <a:lnTo>
                  <a:pt x="4319" y="1098"/>
                </a:lnTo>
                <a:lnTo>
                  <a:pt x="3239" y="1098"/>
                </a:lnTo>
                <a:lnTo>
                  <a:pt x="2159" y="1098"/>
                </a:lnTo>
                <a:lnTo>
                  <a:pt x="1080" y="1098"/>
                </a:lnTo>
                <a:lnTo>
                  <a:pt x="0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‹nº›</a:t>
            </a:fld>
            <a:endParaRPr sz="1200" b="1" i="0" u="none" strike="noStrike" cap="none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5652120" y="4812630"/>
            <a:ext cx="2808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7"/>
          <p:cNvGrpSpPr/>
          <p:nvPr/>
        </p:nvGrpSpPr>
        <p:grpSpPr>
          <a:xfrm>
            <a:off x="99884" y="4769520"/>
            <a:ext cx="1152128" cy="299650"/>
            <a:chOff x="68" y="3004"/>
            <a:chExt cx="719" cy="187"/>
          </a:xfrm>
        </p:grpSpPr>
        <p:sp>
          <p:nvSpPr>
            <p:cNvPr id="132" name="Google Shape;132;p27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údo com Legenda" type="objTx">
  <p:cSld name="OBJECT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m com Legenda" type="picTx">
  <p:cSld name="PICTURE_WITH_CAPTION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texto vertical" type="vertTx">
  <p:cSld name="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texto verticais" type="vertTitleAndTx">
  <p:cSld name="VERTICAL_TITLE_AND_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5" name="Google Shape;15;p19"/>
          <p:cNvPicPr preferRelativeResize="0"/>
          <p:nvPr/>
        </p:nvPicPr>
        <p:blipFill rotWithShape="1">
          <a:blip r:embed="rId14">
            <a:alphaModFix amt="20000"/>
          </a:blip>
          <a:srcRect/>
          <a:stretch/>
        </p:blipFill>
        <p:spPr>
          <a:xfrm>
            <a:off x="2987155" y="195486"/>
            <a:ext cx="6065290" cy="453650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"/>
          <p:cNvSpPr>
            <a:spLocks noGrp="1"/>
          </p:cNvSpPr>
          <p:nvPr>
            <p:ph type="ctrTitle"/>
          </p:nvPr>
        </p:nvSpPr>
        <p:spPr>
          <a:xfrm>
            <a:off x="2772360" y="3075806"/>
            <a:ext cx="5402836" cy="821849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de Inovação Manaus</a:t>
            </a:r>
            <a:endParaRPr sz="2800" i="0"/>
          </a:p>
        </p:txBody>
      </p:sp>
      <p:sp>
        <p:nvSpPr>
          <p:cNvPr id="189" name="Google Shape;189;p1"/>
          <p:cNvSpPr>
            <a:spLocks noGrp="1"/>
          </p:cNvSpPr>
          <p:nvPr>
            <p:ph type="subTitle" idx="1"/>
          </p:nvPr>
        </p:nvSpPr>
        <p:spPr>
          <a:xfrm>
            <a:off x="3203848" y="4011910"/>
            <a:ext cx="5256584" cy="432048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i="0" dirty="0">
                <a:solidFill>
                  <a:schemeClr val="dk1"/>
                </a:solidFill>
              </a:rPr>
              <a:t>Conv. 002/2026 – Bio Caroço</a:t>
            </a:r>
            <a:endParaRPr sz="2400" i="0" dirty="0">
              <a:solidFill>
                <a:schemeClr val="dk1"/>
              </a:solidFill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3202672" y="4515966"/>
            <a:ext cx="5256584" cy="432048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Prazo de Execução: Jun/2026 a Fev/2027 (9 meses)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179499" y="4443950"/>
            <a:ext cx="1590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SETEMBRO / 2026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/>
          <p:nvPr/>
        </p:nvSpPr>
        <p:spPr>
          <a:xfrm>
            <a:off x="400028" y="304788"/>
            <a:ext cx="397331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400028" y="471470"/>
            <a:ext cx="3973316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Dashboard de Saúde do Projeto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7333480" y="454572"/>
            <a:ext cx="1410482" cy="259777"/>
          </a:xfrm>
          <a:prstGeom prst="roundRect">
            <a:avLst>
              <a:gd name="adj" fmla="val 14666"/>
            </a:avLst>
          </a:prstGeom>
          <a:solidFill>
            <a:srgbClr val="F1F8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7398129" y="446293"/>
            <a:ext cx="1269633" cy="259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Período: Setembro /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400027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504801" y="971491"/>
            <a:ext cx="1529731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D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9FB6DB"/>
                </a:solidFill>
                <a:latin typeface="Arial"/>
                <a:ea typeface="Arial"/>
                <a:cs typeface="Arial"/>
                <a:sym typeface="Arial"/>
              </a:rPr>
              <a:t>SALDO DISPONÍVEL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504801" y="1147295"/>
            <a:ext cx="1529731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R$ 137.823,81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504801" y="1385393"/>
            <a:ext cx="1171599" cy="18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DB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9FB6DB"/>
                </a:solidFill>
                <a:latin typeface="Arial"/>
                <a:ea typeface="Arial"/>
                <a:cs typeface="Arial"/>
                <a:sym typeface="Arial"/>
              </a:rPr>
              <a:t>Fechamento em 30/09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2085945" y="857208"/>
            <a:ext cx="1600212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2197334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RECEBIDAS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2197334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R$ 280.500,00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2197334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acumuladas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3771863" y="857208"/>
            <a:ext cx="1600238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3883251" y="978106"/>
            <a:ext cx="1515207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 EXECUTADO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3883251" y="1153909"/>
            <a:ext cx="1515207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R$ 147.398,33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3883251" y="1392008"/>
            <a:ext cx="1515207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Execução acumulada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5457807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5569195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 FINANC.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5569195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R$ 4.722,14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5569195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 acumulado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7143724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7255113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SPRINTS ACOMP.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7255113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7255113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Sprints 14 e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400028" y="1745863"/>
            <a:ext cx="917832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Execução Orçamentária por Rubrica – Orçamento • Executado • Disponível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400028" y="1935283"/>
            <a:ext cx="8343935" cy="246549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476228" y="1992433"/>
            <a:ext cx="2619514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Rubrica Orçamentária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3119346" y="1992433"/>
            <a:ext cx="1497708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Orçamento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/>
          <p:nvPr/>
        </p:nvSpPr>
        <p:spPr>
          <a:xfrm>
            <a:off x="4722601" y="1992433"/>
            <a:ext cx="1456192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Executado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6284343" y="1992433"/>
            <a:ext cx="1456111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Disponível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7854755" y="1992433"/>
            <a:ext cx="813007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Exec.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"/>
          <p:cNvSpPr/>
          <p:nvPr/>
        </p:nvSpPr>
        <p:spPr>
          <a:xfrm>
            <a:off x="400028" y="2407709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476228" y="2229456"/>
            <a:ext cx="2619514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– Bolsas P&amp;D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3119346" y="2229456"/>
            <a:ext cx="1497708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458.000,00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4722601" y="2229456"/>
            <a:ext cx="1456192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134.250,00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6284343" y="2229456"/>
            <a:ext cx="1456111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323.750,00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/>
          <p:nvPr/>
        </p:nvSpPr>
        <p:spPr>
          <a:xfrm>
            <a:off x="7854755" y="2229456"/>
            <a:ext cx="813007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29,3%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400028" y="2411016"/>
            <a:ext cx="8343935" cy="23083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400028" y="2638547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476228" y="2458641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Indiretos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3119346" y="2458641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4722601" y="2458641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6284343" y="2458641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7854755" y="2458641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B8C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DB8C1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/>
          <p:nvPr/>
        </p:nvSpPr>
        <p:spPr>
          <a:xfrm>
            <a:off x="400028" y="286938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/>
          <p:nvPr/>
        </p:nvSpPr>
        <p:spPr>
          <a:xfrm>
            <a:off x="476228" y="2689479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Serviços de Terceiros PJ (Rateio Internet)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"/>
          <p:cNvSpPr/>
          <p:nvPr/>
        </p:nvSpPr>
        <p:spPr>
          <a:xfrm>
            <a:off x="3119346" y="2689479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8.937,00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"/>
          <p:cNvSpPr/>
          <p:nvPr/>
        </p:nvSpPr>
        <p:spPr>
          <a:xfrm>
            <a:off x="4722601" y="2689479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257,15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6284343" y="2689479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8.679,85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7854755" y="2689479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3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39C34"/>
                </a:solidFill>
                <a:latin typeface="Arial"/>
                <a:ea typeface="Arial"/>
                <a:cs typeface="Arial"/>
                <a:sym typeface="Arial"/>
              </a:rPr>
              <a:t>2,9%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400028" y="2872693"/>
            <a:ext cx="8343935" cy="23083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400028" y="310022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476228" y="2920318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Tributos / ISS FAEPI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3119346" y="2920318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5.500,00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4722601" y="2920318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4.125,00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6284343" y="2920318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1.375,00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"/>
          <p:cNvSpPr/>
          <p:nvPr/>
        </p:nvSpPr>
        <p:spPr>
          <a:xfrm>
            <a:off x="7854755" y="2920318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75,0%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"/>
          <p:cNvSpPr/>
          <p:nvPr/>
        </p:nvSpPr>
        <p:spPr>
          <a:xfrm>
            <a:off x="400028" y="3331063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"/>
          <p:cNvSpPr/>
          <p:nvPr/>
        </p:nvSpPr>
        <p:spPr>
          <a:xfrm>
            <a:off x="476228" y="3151157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Tarifas Bancárias (Conta SEBRAE)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3119346" y="3151157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4722601" y="3151157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141,68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6284343" y="3151157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858,32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"/>
          <p:cNvSpPr/>
          <p:nvPr/>
        </p:nvSpPr>
        <p:spPr>
          <a:xfrm>
            <a:off x="7854755" y="3151157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14,2%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"/>
          <p:cNvSpPr/>
          <p:nvPr/>
        </p:nvSpPr>
        <p:spPr>
          <a:xfrm>
            <a:off x="400028" y="3334370"/>
            <a:ext cx="8343935" cy="23083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400028" y="356190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/>
          <p:nvPr/>
        </p:nvSpPr>
        <p:spPr>
          <a:xfrm>
            <a:off x="476228" y="3381995"/>
            <a:ext cx="2619514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Despesa de Suporte Operacional (DOA)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3119346" y="3381995"/>
            <a:ext cx="1497708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72.263,00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4722601" y="3381995"/>
            <a:ext cx="1456192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"/>
          <p:cNvSpPr/>
          <p:nvPr/>
        </p:nvSpPr>
        <p:spPr>
          <a:xfrm>
            <a:off x="6284343" y="3381995"/>
            <a:ext cx="1456111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63.863,00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7854755" y="3381995"/>
            <a:ext cx="813007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3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39C34"/>
                </a:solidFill>
                <a:latin typeface="Arial"/>
                <a:ea typeface="Arial"/>
                <a:cs typeface="Arial"/>
                <a:sym typeface="Arial"/>
              </a:rPr>
              <a:t>11,6%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"/>
          <p:cNvSpPr/>
          <p:nvPr/>
        </p:nvSpPr>
        <p:spPr>
          <a:xfrm>
            <a:off x="400028" y="3795221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476228" y="3612834"/>
            <a:ext cx="2619514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3119346" y="3612834"/>
            <a:ext cx="1497708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4722601" y="3612834"/>
            <a:ext cx="1456192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6284343" y="3612834"/>
            <a:ext cx="1456111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7854755" y="3612834"/>
            <a:ext cx="813007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400028" y="3798528"/>
            <a:ext cx="8343935" cy="260243"/>
          </a:xfrm>
          <a:prstGeom prst="rect">
            <a:avLst/>
          </a:prstGeom>
          <a:solidFill>
            <a:srgbClr val="EAF2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400028" y="3798527"/>
            <a:ext cx="8343935" cy="82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476228" y="3860440"/>
            <a:ext cx="2619514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TOTAL DO PROJETO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3119346" y="3860440"/>
            <a:ext cx="1497708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568.100,00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4722601" y="3860440"/>
            <a:ext cx="1456192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147.173,83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6284343" y="3860440"/>
            <a:ext cx="1456111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420.926,17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"/>
          <p:cNvSpPr/>
          <p:nvPr/>
        </p:nvSpPr>
        <p:spPr>
          <a:xfrm>
            <a:off x="7854755" y="3860440"/>
            <a:ext cx="813007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400028" y="4115899"/>
            <a:ext cx="917832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* Posição em 30/09/2026. Aporte: R$ 280.500,00. Rendimentos líq.: R$ 4.722,14. Saldo em caixa: R$ 137.823,81. Tarifas Empresa/EMBRAPII (R$ 224,50) pagas c/ rendimentos.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Desembolso e Execução Orçamentária – Setembro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400028" y="761969"/>
            <a:ext cx="917832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Conv. 002/2026 – Contas: 15334-6 (Empresa), 15335-4 (SEBRAE), 15338-9 (EMBRAPII)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400028" y="1018078"/>
            <a:ext cx="5176335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Parcelas Recebidas (Entradas de Receita)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400028" y="1207498"/>
            <a:ext cx="4705759" cy="237040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>
            <a:off x="466702" y="1259885"/>
            <a:ext cx="587448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Parcela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1149400" y="1259885"/>
            <a:ext cx="836631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Nº Doc.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2081281" y="1259885"/>
            <a:ext cx="827950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Pagto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"/>
          <p:cNvSpPr/>
          <p:nvPr/>
        </p:nvSpPr>
        <p:spPr>
          <a:xfrm>
            <a:off x="2966380" y="1259885"/>
            <a:ext cx="796375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3857815" y="1259885"/>
            <a:ext cx="1181297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Acumulado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"/>
          <p:cNvSpPr/>
          <p:nvPr/>
        </p:nvSpPr>
        <p:spPr>
          <a:xfrm>
            <a:off x="400028" y="1660854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466702" y="1487400"/>
            <a:ext cx="587448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01/03 EMB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1149400" y="1487400"/>
            <a:ext cx="836631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Ordem Banc.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"/>
          <p:cNvSpPr/>
          <p:nvPr/>
        </p:nvSpPr>
        <p:spPr>
          <a:xfrm>
            <a:off x="2081281" y="1487400"/>
            <a:ext cx="827950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17/06/2026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"/>
          <p:cNvSpPr/>
          <p:nvPr/>
        </p:nvSpPr>
        <p:spPr>
          <a:xfrm>
            <a:off x="2966380" y="1487400"/>
            <a:ext cx="796375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3857815" y="1487400"/>
            <a:ext cx="1181297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"/>
          <p:cNvSpPr/>
          <p:nvPr/>
        </p:nvSpPr>
        <p:spPr>
          <a:xfrm>
            <a:off x="400028" y="1664162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"/>
          <p:cNvSpPr/>
          <p:nvPr/>
        </p:nvSpPr>
        <p:spPr>
          <a:xfrm>
            <a:off x="400028" y="1882133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466702" y="1707025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01/04 Emp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1149400" y="1707025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NFSe 106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2081281" y="1707025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01/07/2026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2966380" y="1707025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27.500,00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3857815" y="1707025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130.500,00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"/>
          <p:cNvSpPr/>
          <p:nvPr/>
        </p:nvSpPr>
        <p:spPr>
          <a:xfrm>
            <a:off x="400028" y="2103412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"/>
          <p:cNvSpPr/>
          <p:nvPr/>
        </p:nvSpPr>
        <p:spPr>
          <a:xfrm>
            <a:off x="466702" y="1928303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Única SEB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"/>
          <p:cNvSpPr/>
          <p:nvPr/>
        </p:nvSpPr>
        <p:spPr>
          <a:xfrm>
            <a:off x="1149400" y="1928303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Aporte Único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"/>
          <p:cNvSpPr/>
          <p:nvPr/>
        </p:nvSpPr>
        <p:spPr>
          <a:xfrm>
            <a:off x="2081281" y="1928303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08/07/2026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"/>
          <p:cNvSpPr/>
          <p:nvPr/>
        </p:nvSpPr>
        <p:spPr>
          <a:xfrm>
            <a:off x="2966380" y="1928303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150.000,00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"/>
          <p:cNvSpPr/>
          <p:nvPr/>
        </p:nvSpPr>
        <p:spPr>
          <a:xfrm>
            <a:off x="3857815" y="1928303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280.500,00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"/>
          <p:cNvSpPr/>
          <p:nvPr/>
        </p:nvSpPr>
        <p:spPr>
          <a:xfrm>
            <a:off x="400028" y="2106719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400028" y="2324690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"/>
          <p:cNvSpPr/>
          <p:nvPr/>
        </p:nvSpPr>
        <p:spPr>
          <a:xfrm>
            <a:off x="466702" y="2149582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02/04 Emp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"/>
          <p:cNvSpPr/>
          <p:nvPr/>
        </p:nvSpPr>
        <p:spPr>
          <a:xfrm>
            <a:off x="1149400" y="2149582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"/>
          <p:cNvSpPr/>
          <p:nvPr/>
        </p:nvSpPr>
        <p:spPr>
          <a:xfrm>
            <a:off x="2081281" y="2149582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Prev. Out/26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2966380" y="2149582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27.500,00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"/>
          <p:cNvSpPr/>
          <p:nvPr/>
        </p:nvSpPr>
        <p:spPr>
          <a:xfrm>
            <a:off x="3857815" y="2149582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"/>
          <p:cNvSpPr/>
          <p:nvPr/>
        </p:nvSpPr>
        <p:spPr>
          <a:xfrm>
            <a:off x="400028" y="2545969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466702" y="2370860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02/03 EMB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"/>
          <p:cNvSpPr/>
          <p:nvPr/>
        </p:nvSpPr>
        <p:spPr>
          <a:xfrm>
            <a:off x="1149400" y="2370860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2081281" y="2370860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Prev. Out/26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"/>
          <p:cNvSpPr/>
          <p:nvPr/>
        </p:nvSpPr>
        <p:spPr>
          <a:xfrm>
            <a:off x="2966380" y="2370860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3857815" y="2370860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400028" y="2549276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400028" y="2767247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466702" y="2592139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03/04 Emp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1149400" y="2592139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2081281" y="2592139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Prev. Dez/26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"/>
          <p:cNvSpPr/>
          <p:nvPr/>
        </p:nvSpPr>
        <p:spPr>
          <a:xfrm>
            <a:off x="2966380" y="2592139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27.500,00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3857815" y="2592139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400028" y="2991006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"/>
          <p:cNvSpPr/>
          <p:nvPr/>
        </p:nvSpPr>
        <p:spPr>
          <a:xfrm>
            <a:off x="466702" y="2813417"/>
            <a:ext cx="587448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03/03 EMB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1149400" y="2813417"/>
            <a:ext cx="836631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"/>
          <p:cNvSpPr/>
          <p:nvPr/>
        </p:nvSpPr>
        <p:spPr>
          <a:xfrm>
            <a:off x="2081281" y="2813417"/>
            <a:ext cx="827950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Prev. Jan/27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"/>
          <p:cNvSpPr/>
          <p:nvPr/>
        </p:nvSpPr>
        <p:spPr>
          <a:xfrm>
            <a:off x="2966380" y="2813417"/>
            <a:ext cx="796375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"/>
          <p:cNvSpPr/>
          <p:nvPr/>
        </p:nvSpPr>
        <p:spPr>
          <a:xfrm>
            <a:off x="3857815" y="2813417"/>
            <a:ext cx="1181297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400028" y="2994313"/>
            <a:ext cx="4705759" cy="250683"/>
          </a:xfrm>
          <a:prstGeom prst="rect">
            <a:avLst/>
          </a:prstGeom>
          <a:solidFill>
            <a:srgbClr val="EAF2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400028" y="2994313"/>
            <a:ext cx="4705759" cy="82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"/>
          <p:cNvSpPr/>
          <p:nvPr/>
        </p:nvSpPr>
        <p:spPr>
          <a:xfrm>
            <a:off x="466702" y="3051463"/>
            <a:ext cx="3398935" cy="15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TOTAL RECEBIDO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"/>
          <p:cNvSpPr/>
          <p:nvPr/>
        </p:nvSpPr>
        <p:spPr>
          <a:xfrm>
            <a:off x="3857815" y="3051463"/>
            <a:ext cx="1181297" cy="15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280.500,00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400028" y="3311659"/>
            <a:ext cx="48469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recebidas: R$ 280.500,00 (49,3% do convênio). Aportes pendentes: R$ 288.500,00.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"/>
          <p:cNvSpPr/>
          <p:nvPr/>
        </p:nvSpPr>
        <p:spPr>
          <a:xfrm>
            <a:off x="5258180" y="1018078"/>
            <a:ext cx="3485782" cy="1082673"/>
          </a:xfrm>
          <a:prstGeom prst="roundRect">
            <a:avLst>
              <a:gd name="adj" fmla="val 5279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"/>
          <p:cNvSpPr/>
          <p:nvPr/>
        </p:nvSpPr>
        <p:spPr>
          <a:xfrm>
            <a:off x="5388611" y="1138975"/>
            <a:ext cx="3547412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Resumo Financeiro Consolidado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5388611" y="1555926"/>
            <a:ext cx="322491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"/>
          <p:cNvSpPr/>
          <p:nvPr/>
        </p:nvSpPr>
        <p:spPr>
          <a:xfrm>
            <a:off x="5388611" y="1385549"/>
            <a:ext cx="1953362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Créditos de setembro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"/>
          <p:cNvSpPr/>
          <p:nvPr/>
        </p:nvSpPr>
        <p:spPr>
          <a:xfrm>
            <a:off x="7768260" y="1385549"/>
            <a:ext cx="92979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R$ 332,27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"/>
          <p:cNvSpPr/>
          <p:nvPr/>
        </p:nvSpPr>
        <p:spPr>
          <a:xfrm>
            <a:off x="5388611" y="1767696"/>
            <a:ext cx="322491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5388611" y="1597318"/>
            <a:ext cx="1880118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Débitos de setembro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7768260" y="1597318"/>
            <a:ext cx="929799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R$ 61.440,33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5388611" y="1828132"/>
            <a:ext cx="1680197" cy="16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000" b="1" i="0" u="none" strike="noStrike" cap="none" dirty="0" err="1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Saldo em 30/09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7801100" y="1828132"/>
            <a:ext cx="893674" cy="16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R$ 137.823,81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5258180" y="2205524"/>
            <a:ext cx="3485782" cy="1254755"/>
          </a:xfrm>
          <a:prstGeom prst="roundRect">
            <a:avLst>
              <a:gd name="adj" fmla="val 455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5381997" y="2319807"/>
            <a:ext cx="356196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Rendimentos de Aplicação Financeira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"/>
          <p:cNvSpPr/>
          <p:nvPr/>
        </p:nvSpPr>
        <p:spPr>
          <a:xfrm>
            <a:off x="5381997" y="2730143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/>
          <p:nvPr/>
        </p:nvSpPr>
        <p:spPr>
          <a:xfrm>
            <a:off x="5381997" y="2566381"/>
            <a:ext cx="1205407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Saldo inicial acumulado (Ago)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"/>
          <p:cNvSpPr/>
          <p:nvPr/>
        </p:nvSpPr>
        <p:spPr>
          <a:xfrm>
            <a:off x="7640228" y="2566376"/>
            <a:ext cx="10179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R$ 4.414,24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"/>
          <p:cNvSpPr/>
          <p:nvPr/>
        </p:nvSpPr>
        <p:spPr>
          <a:xfrm>
            <a:off x="5381997" y="2935299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"/>
          <p:cNvSpPr/>
          <p:nvPr/>
        </p:nvSpPr>
        <p:spPr>
          <a:xfrm>
            <a:off x="5381997" y="2771536"/>
            <a:ext cx="1011540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Setembro/2026 – bruto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"/>
          <p:cNvSpPr/>
          <p:nvPr/>
        </p:nvSpPr>
        <p:spPr>
          <a:xfrm>
            <a:off x="7683752" y="2771524"/>
            <a:ext cx="9744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R$ 332,27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"/>
          <p:cNvSpPr/>
          <p:nvPr/>
        </p:nvSpPr>
        <p:spPr>
          <a:xfrm>
            <a:off x="5381997" y="3140454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"/>
          <p:cNvSpPr/>
          <p:nvPr/>
        </p:nvSpPr>
        <p:spPr>
          <a:xfrm>
            <a:off x="5381997" y="2976692"/>
            <a:ext cx="1018021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Setembro/2026 – IRRF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"/>
          <p:cNvSpPr/>
          <p:nvPr/>
        </p:nvSpPr>
        <p:spPr>
          <a:xfrm>
            <a:off x="7640357" y="2976699"/>
            <a:ext cx="10179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R$ 24,37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"/>
          <p:cNvSpPr/>
          <p:nvPr/>
        </p:nvSpPr>
        <p:spPr>
          <a:xfrm>
            <a:off x="5381997" y="3200890"/>
            <a:ext cx="713109" cy="1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Acumulado Líquido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"/>
          <p:cNvSpPr/>
          <p:nvPr/>
        </p:nvSpPr>
        <p:spPr>
          <a:xfrm>
            <a:off x="7905176" y="3200890"/>
            <a:ext cx="786466" cy="1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8C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FC8CF"/>
                </a:solidFill>
                <a:latin typeface="Arial"/>
                <a:ea typeface="Arial"/>
                <a:cs typeface="Arial"/>
                <a:sym typeface="Arial"/>
              </a:rPr>
              <a:t>R$ 4.722,14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Análise de Execução e Pontos de Atenção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"/>
          <p:cNvSpPr/>
          <p:nvPr/>
        </p:nvSpPr>
        <p:spPr>
          <a:xfrm>
            <a:off x="400028" y="857208"/>
            <a:ext cx="4982668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% de Execução por Rubrica Orçamentária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400027" y="1094275"/>
            <a:ext cx="1698359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Diretos (Bolsas)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4637366" y="1094275"/>
            <a:ext cx="330460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29,3%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/>
          <p:nvPr/>
        </p:nvSpPr>
        <p:spPr>
          <a:xfrm>
            <a:off x="400028" y="1255117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"/>
          <p:cNvSpPr/>
          <p:nvPr/>
        </p:nvSpPr>
        <p:spPr>
          <a:xfrm>
            <a:off x="400028" y="1255117"/>
            <a:ext cx="1327654" cy="8570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400027" y="1426528"/>
            <a:ext cx="1642311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Indiretos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"/>
          <p:cNvSpPr/>
          <p:nvPr/>
        </p:nvSpPr>
        <p:spPr>
          <a:xfrm>
            <a:off x="4637366" y="1426528"/>
            <a:ext cx="330460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"/>
          <p:cNvSpPr/>
          <p:nvPr/>
        </p:nvSpPr>
        <p:spPr>
          <a:xfrm>
            <a:off x="400028" y="1587371"/>
            <a:ext cx="4529698" cy="85705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"/>
          <p:cNvSpPr/>
          <p:nvPr/>
        </p:nvSpPr>
        <p:spPr>
          <a:xfrm>
            <a:off x="400028" y="1587371"/>
            <a:ext cx="90589" cy="8570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"/>
          <p:cNvSpPr/>
          <p:nvPr/>
        </p:nvSpPr>
        <p:spPr>
          <a:xfrm>
            <a:off x="400027" y="1758781"/>
            <a:ext cx="1579498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Tributos / ISS FAEPI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"/>
          <p:cNvSpPr/>
          <p:nvPr/>
        </p:nvSpPr>
        <p:spPr>
          <a:xfrm>
            <a:off x="4605610" y="1758781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75,0%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/>
          <p:nvPr/>
        </p:nvSpPr>
        <p:spPr>
          <a:xfrm>
            <a:off x="400028" y="1919625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"/>
          <p:cNvSpPr/>
          <p:nvPr/>
        </p:nvSpPr>
        <p:spPr>
          <a:xfrm>
            <a:off x="400028" y="1919625"/>
            <a:ext cx="3397273" cy="85706"/>
          </a:xfrm>
          <a:prstGeom prst="rect">
            <a:avLst/>
          </a:prstGeom>
          <a:solidFill>
            <a:srgbClr val="1DB8C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"/>
          <p:cNvSpPr/>
          <p:nvPr/>
        </p:nvSpPr>
        <p:spPr>
          <a:xfrm>
            <a:off x="400028" y="2091035"/>
            <a:ext cx="120648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Tarifas Bancárias (SEBRAE)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"/>
          <p:cNvSpPr/>
          <p:nvPr/>
        </p:nvSpPr>
        <p:spPr>
          <a:xfrm>
            <a:off x="4605610" y="2091035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14,2%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"/>
          <p:cNvSpPr/>
          <p:nvPr/>
        </p:nvSpPr>
        <p:spPr>
          <a:xfrm>
            <a:off x="400028" y="2251878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"/>
          <p:cNvSpPr/>
          <p:nvPr/>
        </p:nvSpPr>
        <p:spPr>
          <a:xfrm>
            <a:off x="400027" y="2251878"/>
            <a:ext cx="641858" cy="85706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"/>
          <p:cNvSpPr/>
          <p:nvPr/>
        </p:nvSpPr>
        <p:spPr>
          <a:xfrm>
            <a:off x="400028" y="2423289"/>
            <a:ext cx="1558380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Serviços Terceiros PJ (Rateio)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4605610" y="2423289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2,9%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"/>
          <p:cNvSpPr/>
          <p:nvPr/>
        </p:nvSpPr>
        <p:spPr>
          <a:xfrm>
            <a:off x="400028" y="2584132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"/>
          <p:cNvSpPr/>
          <p:nvPr/>
        </p:nvSpPr>
        <p:spPr>
          <a:xfrm>
            <a:off x="400027" y="2584132"/>
            <a:ext cx="130455" cy="85706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"/>
          <p:cNvSpPr/>
          <p:nvPr/>
        </p:nvSpPr>
        <p:spPr>
          <a:xfrm>
            <a:off x="400028" y="2755543"/>
            <a:ext cx="964303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Despesa de Suporte Operacional (DOA)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"/>
          <p:cNvSpPr/>
          <p:nvPr/>
        </p:nvSpPr>
        <p:spPr>
          <a:xfrm>
            <a:off x="4764516" y="2755543"/>
            <a:ext cx="203310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11,6%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"/>
          <p:cNvSpPr/>
          <p:nvPr/>
        </p:nvSpPr>
        <p:spPr>
          <a:xfrm>
            <a:off x="400028" y="2916385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"/>
          <p:cNvSpPr/>
          <p:nvPr/>
        </p:nvSpPr>
        <p:spPr>
          <a:xfrm>
            <a:off x="400028" y="2916385"/>
            <a:ext cx="526350" cy="85706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"/>
          <p:cNvSpPr/>
          <p:nvPr/>
        </p:nvSpPr>
        <p:spPr>
          <a:xfrm>
            <a:off x="5120204" y="857208"/>
            <a:ext cx="3623758" cy="678899"/>
          </a:xfrm>
          <a:prstGeom prst="roundRect">
            <a:avLst>
              <a:gd name="adj" fmla="val 8418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"/>
          <p:cNvSpPr/>
          <p:nvPr/>
        </p:nvSpPr>
        <p:spPr>
          <a:xfrm>
            <a:off x="5260144" y="987640"/>
            <a:ext cx="3678267" cy="26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"/>
          <p:cNvSpPr/>
          <p:nvPr/>
        </p:nvSpPr>
        <p:spPr>
          <a:xfrm>
            <a:off x="5260144" y="1273385"/>
            <a:ext cx="3678267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Execução acumulada – R$ 147.398,33 do orçamento total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"/>
          <p:cNvSpPr/>
          <p:nvPr/>
        </p:nvSpPr>
        <p:spPr>
          <a:xfrm>
            <a:off x="5120204" y="1631348"/>
            <a:ext cx="3623758" cy="678899"/>
          </a:xfrm>
          <a:prstGeom prst="roundRect">
            <a:avLst>
              <a:gd name="adj" fmla="val 8418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"/>
          <p:cNvSpPr/>
          <p:nvPr/>
        </p:nvSpPr>
        <p:spPr>
          <a:xfrm>
            <a:off x="5260144" y="1761779"/>
            <a:ext cx="3678267" cy="2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R$ 137.823,81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"/>
          <p:cNvSpPr/>
          <p:nvPr/>
        </p:nvSpPr>
        <p:spPr>
          <a:xfrm>
            <a:off x="5260144" y="2047524"/>
            <a:ext cx="367826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Saldo financeiro em 30/09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"/>
          <p:cNvSpPr/>
          <p:nvPr/>
        </p:nvSpPr>
        <p:spPr>
          <a:xfrm>
            <a:off x="5120204" y="2405486"/>
            <a:ext cx="3623758" cy="875037"/>
          </a:xfrm>
          <a:prstGeom prst="roundRect">
            <a:avLst>
              <a:gd name="adj" fmla="val 6531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"/>
          <p:cNvSpPr/>
          <p:nvPr/>
        </p:nvSpPr>
        <p:spPr>
          <a:xfrm>
            <a:off x="5260144" y="2526384"/>
            <a:ext cx="367826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PONTOS DE ATENÇÃO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"/>
          <p:cNvSpPr/>
          <p:nvPr/>
        </p:nvSpPr>
        <p:spPr>
          <a:xfrm>
            <a:off x="5260144" y="2693066"/>
            <a:ext cx="3444195" cy="4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413A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Aporte SEBRAE 100% integralizado em conta única (R$ 150.000,00). 100% das bolsas do 1º trimestre quitadas e conciliadas com a FAEPI (34 ordens bancárias). Próximas parcelas previstas para o 4º mês: Empresa Parcela 02/04 (R$ 27,5k) e EMBRAPII Parcela 02/03 (R$ 103k).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Entregas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"/>
          <p:cNvSpPr/>
          <p:nvPr/>
        </p:nvSpPr>
        <p:spPr>
          <a:xfrm>
            <a:off x="400028" y="838166"/>
            <a:ext cx="8343935" cy="256108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476227" y="900079"/>
            <a:ext cx="689114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1279641" y="900079"/>
            <a:ext cx="3653151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Descrição dos Entregáveis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"/>
          <p:cNvSpPr/>
          <p:nvPr/>
        </p:nvSpPr>
        <p:spPr>
          <a:xfrm>
            <a:off x="4974351" y="900079"/>
            <a:ext cx="665600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"/>
          <p:cNvSpPr/>
          <p:nvPr/>
        </p:nvSpPr>
        <p:spPr>
          <a:xfrm>
            <a:off x="5754251" y="900079"/>
            <a:ext cx="681362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Término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6530863" y="900079"/>
            <a:ext cx="854168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18381" y="900079"/>
            <a:ext cx="1188435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"/>
          <p:cNvSpPr/>
          <p:nvPr/>
        </p:nvSpPr>
        <p:spPr>
          <a:xfrm>
            <a:off x="400028" y="1358238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"/>
          <p:cNvSpPr/>
          <p:nvPr/>
        </p:nvSpPr>
        <p:spPr>
          <a:xfrm>
            <a:off x="476227" y="1160950"/>
            <a:ext cx="689114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"/>
          <p:cNvSpPr/>
          <p:nvPr/>
        </p:nvSpPr>
        <p:spPr>
          <a:xfrm>
            <a:off x="1279641" y="1160950"/>
            <a:ext cx="3653151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Planejamento e Gestão do Projeto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4974351" y="1160950"/>
            <a:ext cx="665600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"/>
          <p:cNvSpPr/>
          <p:nvPr/>
        </p:nvSpPr>
        <p:spPr>
          <a:xfrm>
            <a:off x="5754251" y="1160950"/>
            <a:ext cx="681362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Dez/2027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"/>
          <p:cNvSpPr/>
          <p:nvPr/>
        </p:nvSpPr>
        <p:spPr>
          <a:xfrm>
            <a:off x="6530863" y="1160950"/>
            <a:ext cx="854168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7518379" y="1156984"/>
            <a:ext cx="897439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7575529" y="1180796"/>
            <a:ext cx="821239" cy="12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"/>
          <p:cNvSpPr/>
          <p:nvPr/>
        </p:nvSpPr>
        <p:spPr>
          <a:xfrm>
            <a:off x="400028" y="1361545"/>
            <a:ext cx="8343935" cy="2689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400028" y="162716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476227" y="1428220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1279641" y="1428220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Desenvolvimento — Análise de Requisitos e Arquitetura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"/>
          <p:cNvSpPr/>
          <p:nvPr/>
        </p:nvSpPr>
        <p:spPr>
          <a:xfrm>
            <a:off x="4974351" y="1428220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5754251" y="1428220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Mai/2026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"/>
          <p:cNvSpPr/>
          <p:nvPr/>
        </p:nvSpPr>
        <p:spPr>
          <a:xfrm>
            <a:off x="6530863" y="1428220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"/>
          <p:cNvSpPr/>
          <p:nvPr/>
        </p:nvSpPr>
        <p:spPr>
          <a:xfrm>
            <a:off x="7518379" y="1425908"/>
            <a:ext cx="691017" cy="15342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"/>
          <p:cNvSpPr/>
          <p:nvPr/>
        </p:nvSpPr>
        <p:spPr>
          <a:xfrm>
            <a:off x="7575529" y="1449720"/>
            <a:ext cx="614817" cy="12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CONCLUÍDO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"/>
          <p:cNvSpPr/>
          <p:nvPr/>
        </p:nvSpPr>
        <p:spPr>
          <a:xfrm>
            <a:off x="400028" y="189608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"/>
          <p:cNvSpPr/>
          <p:nvPr/>
        </p:nvSpPr>
        <p:spPr>
          <a:xfrm>
            <a:off x="476227" y="1697144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"/>
          <p:cNvSpPr/>
          <p:nvPr/>
        </p:nvSpPr>
        <p:spPr>
          <a:xfrm>
            <a:off x="1279641" y="1697144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Desenvolvimento — Motor Preditivo e Dashboards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"/>
          <p:cNvSpPr/>
          <p:nvPr/>
        </p:nvSpPr>
        <p:spPr>
          <a:xfrm>
            <a:off x="4974351" y="1697144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Jun/2026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"/>
          <p:cNvSpPr/>
          <p:nvPr/>
        </p:nvSpPr>
        <p:spPr>
          <a:xfrm>
            <a:off x="5754251" y="1697144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Mar/2027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"/>
          <p:cNvSpPr/>
          <p:nvPr/>
        </p:nvSpPr>
        <p:spPr>
          <a:xfrm>
            <a:off x="6530863" y="1697144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"/>
          <p:cNvSpPr/>
          <p:nvPr/>
        </p:nvSpPr>
        <p:spPr>
          <a:xfrm>
            <a:off x="7518379" y="1694832"/>
            <a:ext cx="897439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7575529" y="1718645"/>
            <a:ext cx="821239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"/>
          <p:cNvSpPr/>
          <p:nvPr/>
        </p:nvSpPr>
        <p:spPr>
          <a:xfrm>
            <a:off x="400028" y="1899393"/>
            <a:ext cx="8343935" cy="2689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"/>
          <p:cNvSpPr/>
          <p:nvPr/>
        </p:nvSpPr>
        <p:spPr>
          <a:xfrm>
            <a:off x="400028" y="2165010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476227" y="1966068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"/>
          <p:cNvSpPr/>
          <p:nvPr/>
        </p:nvSpPr>
        <p:spPr>
          <a:xfrm>
            <a:off x="1279641" y="1966068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Validação, Testes e Implantação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"/>
          <p:cNvSpPr/>
          <p:nvPr/>
        </p:nvSpPr>
        <p:spPr>
          <a:xfrm>
            <a:off x="4974351" y="1966068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Abr/2027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"/>
          <p:cNvSpPr/>
          <p:nvPr/>
        </p:nvSpPr>
        <p:spPr>
          <a:xfrm>
            <a:off x="5754251" y="1966068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Out/2027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6530863" y="1966068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"/>
          <p:cNvSpPr/>
          <p:nvPr/>
        </p:nvSpPr>
        <p:spPr>
          <a:xfrm>
            <a:off x="7518379" y="1963756"/>
            <a:ext cx="781012" cy="15342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"/>
          <p:cNvSpPr/>
          <p:nvPr/>
        </p:nvSpPr>
        <p:spPr>
          <a:xfrm>
            <a:off x="7575529" y="1987569"/>
            <a:ext cx="704812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NÃO INICIADO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"/>
          <p:cNvSpPr/>
          <p:nvPr/>
        </p:nvSpPr>
        <p:spPr>
          <a:xfrm>
            <a:off x="400028" y="243393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"/>
          <p:cNvSpPr/>
          <p:nvPr/>
        </p:nvSpPr>
        <p:spPr>
          <a:xfrm>
            <a:off x="476227" y="2234992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"/>
          <p:cNvSpPr/>
          <p:nvPr/>
        </p:nvSpPr>
        <p:spPr>
          <a:xfrm>
            <a:off x="1279641" y="2234992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Pesquisa Científica, PI e Resultados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"/>
          <p:cNvSpPr/>
          <p:nvPr/>
        </p:nvSpPr>
        <p:spPr>
          <a:xfrm>
            <a:off x="4974351" y="2234992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"/>
          <p:cNvSpPr/>
          <p:nvPr/>
        </p:nvSpPr>
        <p:spPr>
          <a:xfrm>
            <a:off x="5754251" y="2234992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Dez/2027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"/>
          <p:cNvSpPr/>
          <p:nvPr/>
        </p:nvSpPr>
        <p:spPr>
          <a:xfrm>
            <a:off x="6530863" y="2234992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"/>
          <p:cNvSpPr/>
          <p:nvPr/>
        </p:nvSpPr>
        <p:spPr>
          <a:xfrm>
            <a:off x="7518379" y="2232680"/>
            <a:ext cx="897439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7575529" y="2256493"/>
            <a:ext cx="821239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"/>
          <p:cNvSpPr/>
          <p:nvPr/>
        </p:nvSpPr>
        <p:spPr>
          <a:xfrm>
            <a:off x="400028" y="2562712"/>
            <a:ext cx="4124348" cy="686573"/>
          </a:xfrm>
          <a:prstGeom prst="roundRect">
            <a:avLst>
              <a:gd name="adj" fmla="val 8324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"/>
          <p:cNvSpPr/>
          <p:nvPr/>
        </p:nvSpPr>
        <p:spPr>
          <a:xfrm>
            <a:off x="530458" y="2674100"/>
            <a:ext cx="424983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Macro 02 · Concluída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"/>
          <p:cNvSpPr/>
          <p:nvPr/>
        </p:nvSpPr>
        <p:spPr>
          <a:xfrm>
            <a:off x="530458" y="2831249"/>
            <a:ext cx="3979390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413A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Documento de Requisitos e arquitetura mantidos como base para as integrações e os testes de agosto.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"/>
          <p:cNvSpPr/>
          <p:nvPr/>
        </p:nvSpPr>
        <p:spPr>
          <a:xfrm>
            <a:off x="4619614" y="2562712"/>
            <a:ext cx="4124348" cy="686573"/>
          </a:xfrm>
          <a:prstGeom prst="roundRect">
            <a:avLst>
              <a:gd name="adj" fmla="val 8324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"/>
          <p:cNvSpPr/>
          <p:nvPr/>
        </p:nvSpPr>
        <p:spPr>
          <a:xfrm>
            <a:off x="4750046" y="2674100"/>
            <a:ext cx="424983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03 · Em </a:t>
            </a:r>
            <a:r>
              <a:rPr lang="en-US" sz="800" b="1" i="0" u="none" strike="noStrike" cap="none" dirty="0" err="1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avanço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"/>
          <p:cNvSpPr/>
          <p:nvPr/>
        </p:nvSpPr>
        <p:spPr>
          <a:xfrm>
            <a:off x="4750046" y="2831249"/>
            <a:ext cx="3979390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Motor multiclasse, injeção manual de dados, autenticação e dashboard com dados reais avançaram nas Sprints 13 e 14.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"/>
          <p:cNvSpPr/>
          <p:nvPr/>
        </p:nvSpPr>
        <p:spPr>
          <a:xfrm>
            <a:off x="400028" y="285745"/>
            <a:ext cx="429408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RESUMO EXECUTIVO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400028" y="452427"/>
            <a:ext cx="4294087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Destaques do Mês — Agosto / 2026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"/>
          <p:cNvSpPr/>
          <p:nvPr/>
        </p:nvSpPr>
        <p:spPr>
          <a:xfrm>
            <a:off x="7333299" y="435529"/>
            <a:ext cx="1410663" cy="259778"/>
          </a:xfrm>
          <a:prstGeom prst="roundRect">
            <a:avLst>
              <a:gd name="adj" fmla="val 14666"/>
            </a:avLst>
          </a:prstGeom>
          <a:solidFill>
            <a:srgbClr val="E7F5E8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"/>
          <p:cNvSpPr/>
          <p:nvPr/>
        </p:nvSpPr>
        <p:spPr>
          <a:xfrm>
            <a:off x="7444688" y="527306"/>
            <a:ext cx="76197" cy="76197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"/>
          <p:cNvSpPr/>
          <p:nvPr/>
        </p:nvSpPr>
        <p:spPr>
          <a:xfrm>
            <a:off x="7578013" y="499272"/>
            <a:ext cx="116001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Status Geral: Verde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"/>
          <p:cNvSpPr/>
          <p:nvPr/>
        </p:nvSpPr>
        <p:spPr>
          <a:xfrm>
            <a:off x="400027" y="809589"/>
            <a:ext cx="2717819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"/>
          <p:cNvSpPr/>
          <p:nvPr/>
        </p:nvSpPr>
        <p:spPr>
          <a:xfrm>
            <a:off x="530459" y="1093861"/>
            <a:ext cx="2456956" cy="1322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"/>
          <p:cNvSpPr/>
          <p:nvPr/>
        </p:nvSpPr>
        <p:spPr>
          <a:xfrm>
            <a:off x="530459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ALINHAMENTO AO PLANO DE TRABALHO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"/>
          <p:cNvSpPr/>
          <p:nvPr/>
        </p:nvSpPr>
        <p:spPr>
          <a:xfrm>
            <a:off x="558556" y="1183287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12: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agosto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"/>
          <p:cNvSpPr/>
          <p:nvPr/>
        </p:nvSpPr>
        <p:spPr>
          <a:xfrm>
            <a:off x="558581" y="1761438"/>
            <a:ext cx="24993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13: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realizada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em 18/08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"/>
          <p:cNvSpPr/>
          <p:nvPr/>
        </p:nvSpPr>
        <p:spPr>
          <a:xfrm>
            <a:off x="546131" y="2492914"/>
            <a:ext cx="24993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14: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realizado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em 25/08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"/>
          <p:cNvSpPr/>
          <p:nvPr/>
        </p:nvSpPr>
        <p:spPr>
          <a:xfrm>
            <a:off x="3213086" y="809589"/>
            <a:ext cx="2717819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"/>
          <p:cNvSpPr/>
          <p:nvPr/>
        </p:nvSpPr>
        <p:spPr>
          <a:xfrm>
            <a:off x="3343517" y="1093861"/>
            <a:ext cx="2456956" cy="13229"/>
          </a:xfrm>
          <a:prstGeom prst="rect">
            <a:avLst/>
          </a:prstGeom>
          <a:solidFill>
            <a:srgbClr val="1DB8C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"/>
          <p:cNvSpPr/>
          <p:nvPr/>
        </p:nvSpPr>
        <p:spPr>
          <a:xfrm>
            <a:off x="3343517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ENTREGAS TÉCNICAS — SPRINTS 13 E 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6"/>
          <p:cNvSpPr/>
          <p:nvPr/>
        </p:nvSpPr>
        <p:spPr>
          <a:xfrm>
            <a:off x="3371614" y="1183287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Backend com JWT, API Key e rotas de integração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"/>
          <p:cNvSpPr/>
          <p:nvPr/>
        </p:nvSpPr>
        <p:spPr>
          <a:xfrm>
            <a:off x="3371614" y="1547063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Injeção manual de leituras, comunicações e incidentes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"/>
          <p:cNvSpPr/>
          <p:nvPr/>
        </p:nvSpPr>
        <p:spPr>
          <a:xfrm>
            <a:off x="3371614" y="1910840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conectado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backend real em 8 endpoints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"/>
          <p:cNvSpPr/>
          <p:nvPr/>
        </p:nvSpPr>
        <p:spPr>
          <a:xfrm>
            <a:off x="3371614" y="2274616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semântico e relatórios com dados reais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"/>
          <p:cNvSpPr/>
          <p:nvPr/>
        </p:nvSpPr>
        <p:spPr>
          <a:xfrm>
            <a:off x="6026144" y="809589"/>
            <a:ext cx="2717818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"/>
          <p:cNvSpPr/>
          <p:nvPr/>
        </p:nvSpPr>
        <p:spPr>
          <a:xfrm>
            <a:off x="6156575" y="1093861"/>
            <a:ext cx="2456956" cy="13229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"/>
          <p:cNvSpPr/>
          <p:nvPr/>
        </p:nvSpPr>
        <p:spPr>
          <a:xfrm>
            <a:off x="6156575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PRODUÇÃO CIENTÍFICA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"/>
          <p:cNvSpPr/>
          <p:nvPr/>
        </p:nvSpPr>
        <p:spPr>
          <a:xfrm>
            <a:off x="6184673" y="1183287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Apresentação e participação no SEGE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"/>
          <p:cNvSpPr/>
          <p:nvPr/>
        </p:nvSpPr>
        <p:spPr>
          <a:xfrm>
            <a:off x="6184673" y="1547063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Testes dos agentes e plano de ação do Artigo 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"/>
          <p:cNvSpPr/>
          <p:nvPr/>
        </p:nvSpPr>
        <p:spPr>
          <a:xfrm>
            <a:off x="6184673" y="1910840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Ajustes do artigo IECON e aquisição da NBR 16968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"/>
          <p:cNvSpPr/>
          <p:nvPr/>
        </p:nvSpPr>
        <p:spPr>
          <a:xfrm>
            <a:off x="400028" y="4204524"/>
            <a:ext cx="8343935" cy="510357"/>
          </a:xfrm>
          <a:prstGeom prst="roundRect">
            <a:avLst>
              <a:gd name="adj" fmla="val 11198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"/>
          <p:cNvSpPr/>
          <p:nvPr/>
        </p:nvSpPr>
        <p:spPr>
          <a:xfrm>
            <a:off x="530467" y="4306388"/>
            <a:ext cx="8333374" cy="3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Pontos de atenção: MCP indisponível no parcial da Sprint 14; integração do MLflow ainda planejada; parcelas 05 e 07 pendentes. Próximo marco: concluir a Sprint 14.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"/>
          <p:cNvSpPr/>
          <p:nvPr/>
        </p:nvSpPr>
        <p:spPr>
          <a:xfrm>
            <a:off x="400027" y="367962"/>
            <a:ext cx="660244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"/>
          <p:cNvSpPr/>
          <p:nvPr/>
        </p:nvSpPr>
        <p:spPr>
          <a:xfrm>
            <a:off x="485752" y="406062"/>
            <a:ext cx="526894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1136468" y="285745"/>
            <a:ext cx="3790335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1136468" y="413928"/>
            <a:ext cx="3790335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Front-end — Dados Reais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424791" y="935912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Integração com o backend real por VPN e proxy.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7"/>
          <p:cNvSpPr/>
          <p:nvPr/>
        </p:nvSpPr>
        <p:spPr>
          <a:xfrm>
            <a:off x="424791" y="1312917"/>
            <a:ext cx="4480594" cy="18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Oito endpoints responderam HTTP 200 nas telas auditadas.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424791" y="1527607"/>
            <a:ext cx="4480594" cy="18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semântico ajusta o período entre 1h, 6h, 24h, 7d e 30d.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400028" y="1785163"/>
            <a:ext cx="451583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Artefatos / evidências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424791" y="1961353"/>
            <a:ext cx="4118641" cy="39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Monitoramento e relatórios operam sem dados simulados.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400028" y="2433598"/>
            <a:ext cx="4105305" cy="491288"/>
          </a:xfrm>
          <a:prstGeom prst="roundRect">
            <a:avLst>
              <a:gd name="adj" fmla="val 11633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511417" y="2525938"/>
            <a:ext cx="4005685" cy="32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interface integrada, com navegação temporal e relatórios consolidados.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4638658" y="759721"/>
            <a:ext cx="4105305" cy="1944248"/>
          </a:xfrm>
          <a:prstGeom prst="roundRect">
            <a:avLst>
              <a:gd name="adj" fmla="val 2939"/>
            </a:avLst>
          </a:prstGeom>
          <a:solidFill>
            <a:srgbClr val="F7F9FC"/>
          </a:solidFill>
          <a:ln w="16525" cap="flat" cmpd="sng">
            <a:solidFill>
              <a:srgbClr val="C3CCD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5808172" y="1601995"/>
            <a:ext cx="1942874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5788096" y="1762450"/>
            <a:ext cx="1987042" cy="11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4638658" y="2770632"/>
            <a:ext cx="4105305" cy="1944248"/>
          </a:xfrm>
          <a:prstGeom prst="roundRect">
            <a:avLst>
              <a:gd name="adj" fmla="val 2939"/>
            </a:avLst>
          </a:prstGeom>
          <a:solidFill>
            <a:srgbClr val="F1F8E9"/>
          </a:solidFill>
          <a:ln w="16525" cap="flat" cmpd="sng">
            <a:solidFill>
              <a:srgbClr val="9BC3A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7"/>
          <p:cNvSpPr/>
          <p:nvPr/>
        </p:nvSpPr>
        <p:spPr>
          <a:xfrm>
            <a:off x="5587411" y="3612906"/>
            <a:ext cx="2428578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7A3F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7"/>
          <p:cNvSpPr/>
          <p:nvPr/>
        </p:nvSpPr>
        <p:spPr>
          <a:xfrm>
            <a:off x="6046168" y="3773361"/>
            <a:ext cx="1419311" cy="11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A06F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000" y="1000000"/>
            <a:ext cx="4000000" cy="21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0000" y="3200000"/>
            <a:ext cx="40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"/>
          <p:cNvSpPr/>
          <p:nvPr/>
        </p:nvSpPr>
        <p:spPr>
          <a:xfrm>
            <a:off x="400028" y="367962"/>
            <a:ext cx="643062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/>
          <p:nvPr/>
        </p:nvSpPr>
        <p:spPr>
          <a:xfrm>
            <a:off x="485753" y="406062"/>
            <a:ext cx="509712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8"/>
          <p:cNvSpPr/>
          <p:nvPr/>
        </p:nvSpPr>
        <p:spPr>
          <a:xfrm>
            <a:off x="1119286" y="285745"/>
            <a:ext cx="3447934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1119286" y="413928"/>
            <a:ext cx="3447934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Back-end — Segurança e Ingestão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424791" y="935912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Refatoração das rotas de alertas e RAG para integração com os agentes.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8"/>
          <p:cNvSpPr/>
          <p:nvPr/>
        </p:nvSpPr>
        <p:spPr>
          <a:xfrm>
            <a:off x="424791" y="1312917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Autenticação por API Key e login JWT nos serviços.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424791" y="1689922"/>
            <a:ext cx="4200557" cy="34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Interface para ingestão manual de leituras, comunicações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424791" y="2066928"/>
            <a:ext cx="4480594" cy="18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Lotes configuráveis e validação das respostas via Swagger.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400028" y="2314949"/>
            <a:ext cx="4105305" cy="644612"/>
          </a:xfrm>
          <a:prstGeom prst="roundRect">
            <a:avLst>
              <a:gd name="adj" fmla="val 8866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"/>
          <p:cNvSpPr/>
          <p:nvPr/>
        </p:nvSpPr>
        <p:spPr>
          <a:xfrm>
            <a:off x="511417" y="2407288"/>
            <a:ext cx="4005685" cy="47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Próximo passo: concluir a integração com MCP e frontend.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8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Artefatos / evidências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8"/>
          <p:cNvSpPr/>
          <p:nvPr/>
        </p:nvSpPr>
        <p:spPr>
          <a:xfrm>
            <a:off x="4663421" y="935912"/>
            <a:ext cx="4118641" cy="61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Evidência: cadastro manual e respostas autenticadas.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"/>
          <p:cNvSpPr/>
          <p:nvPr/>
        </p:nvSpPr>
        <p:spPr>
          <a:xfrm>
            <a:off x="4638658" y="1613313"/>
            <a:ext cx="4105305" cy="797936"/>
          </a:xfrm>
          <a:prstGeom prst="roundRect">
            <a:avLst>
              <a:gd name="adj" fmla="val 7162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"/>
          <p:cNvSpPr/>
          <p:nvPr/>
        </p:nvSpPr>
        <p:spPr>
          <a:xfrm>
            <a:off x="4750047" y="1705652"/>
            <a:ext cx="4005685" cy="63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backend protegido e preparado para dados reais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000" y="1150000"/>
            <a:ext cx="4000000" cy="30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"/>
          <p:cNvSpPr/>
          <p:nvPr/>
        </p:nvSpPr>
        <p:spPr>
          <a:xfrm>
            <a:off x="400027" y="367962"/>
            <a:ext cx="547796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485752" y="406062"/>
            <a:ext cx="414446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/ DL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1024020" y="285745"/>
            <a:ext cx="318289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1024020" y="413928"/>
            <a:ext cx="3182899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IA / ML — Análise de Dados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400028" y="759721"/>
            <a:ext cx="2711463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530458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549022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Análise dos dados sintéticos e inclusão de variáveis meteorológicas.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549022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Matriz de correlação usada para avaliar relações entre medições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549022" y="1646799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Modelo multiclasse alinhado aos contratos do backend.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3216263" y="759721"/>
            <a:ext cx="2711462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3346695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3365258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3365258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3365258" y="1646799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6032500" y="759721"/>
            <a:ext cx="2711463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6162931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6181494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6181494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400028" y="4204524"/>
            <a:ext cx="8343935" cy="510357"/>
          </a:xfrm>
          <a:prstGeom prst="roundRect">
            <a:avLst>
              <a:gd name="adj" fmla="val 11198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530467" y="4306388"/>
            <a:ext cx="8333374" cy="3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análise passou a considerar clima e novas referências para os próximos testes.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150000"/>
            <a:ext cx="3950000" cy="29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"/>
          <p:cNvSpPr/>
          <p:nvPr/>
        </p:nvSpPr>
        <p:spPr>
          <a:xfrm>
            <a:off x="400027" y="367962"/>
            <a:ext cx="870050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485753" y="406062"/>
            <a:ext cx="736700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1346275" y="285745"/>
            <a:ext cx="3733604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1346275" y="413928"/>
            <a:ext cx="3733604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Agentes de IA — Testes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424791" y="1228212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Ajustes das métricas dos agentes para o artigo.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0"/>
          <p:cNvSpPr/>
          <p:nvPr/>
        </p:nvSpPr>
        <p:spPr>
          <a:xfrm>
            <a:off x="424791" y="1760317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Plano de ação para testes e validação dos modelos.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0"/>
          <p:cNvSpPr/>
          <p:nvPr/>
        </p:nvSpPr>
        <p:spPr>
          <a:xfrm>
            <a:off x="426304" y="2256048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Avaliação das respostas e análise dos prompts dinâmicos.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0"/>
          <p:cNvSpPr/>
          <p:nvPr/>
        </p:nvSpPr>
        <p:spPr>
          <a:xfrm>
            <a:off x="412413" y="2751896"/>
            <a:ext cx="4105200" cy="736800"/>
          </a:xfrm>
          <a:prstGeom prst="roundRect">
            <a:avLst>
              <a:gd name="adj" fmla="val 11633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523804" y="2844249"/>
            <a:ext cx="40056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metodologia de testes organizada para o Artigo 04.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 — alinhamento do Artigo 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4638658" y="935912"/>
            <a:ext cx="4105305" cy="3778968"/>
          </a:xfrm>
          <a:prstGeom prst="roundRect">
            <a:avLst>
              <a:gd name="adj" fmla="val 1512"/>
            </a:avLst>
          </a:prstGeom>
          <a:solidFill>
            <a:srgbClr val="F7F9FC"/>
          </a:solidFill>
          <a:ln w="16525" cap="flat" cmpd="sng">
            <a:solidFill>
              <a:srgbClr val="C3CCD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5587411" y="2695546"/>
            <a:ext cx="2428578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5865533" y="2856002"/>
            <a:ext cx="1816708" cy="11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4700000" y="1200000"/>
            <a:ext cx="4000000" cy="300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"/>
          <p:cNvSpPr/>
          <p:nvPr/>
        </p:nvSpPr>
        <p:spPr>
          <a:xfrm>
            <a:off x="400027" y="367962"/>
            <a:ext cx="567407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485753" y="406062"/>
            <a:ext cx="434057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1043631" y="285745"/>
            <a:ext cx="4071486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1043631" y="413928"/>
            <a:ext cx="4071486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DevOps — CPD e Monitoramento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de agosto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400028" y="954981"/>
            <a:ext cx="4105305" cy="246549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476228" y="1012131"/>
            <a:ext cx="1808792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2342197" y="1012131"/>
            <a:ext cx="982790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3439288" y="1012131"/>
            <a:ext cx="989845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400028" y="1446424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476228" y="1258679"/>
            <a:ext cx="1808792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2342197" y="1258679"/>
            <a:ext cx="982790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Migração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3439288" y="1258679"/>
            <a:ext cx="989845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Finalizada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400028" y="1449731"/>
            <a:ext cx="4105305" cy="24985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400028" y="1696279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476228" y="1506881"/>
            <a:ext cx="1808792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2342197" y="1506881"/>
            <a:ext cx="982790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3439288" y="1506881"/>
            <a:ext cx="989845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00028" y="1946135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476228" y="1756736"/>
            <a:ext cx="1808792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2342197" y="1756736"/>
            <a:ext cx="982790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3439288" y="1756736"/>
            <a:ext cx="989845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lang="en-US" sz="1100" b="1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400028" y="2046335"/>
            <a:ext cx="451583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428125" y="2213017"/>
            <a:ext cx="4115307" cy="36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Coleta de VRAM, energia e temperatura; notificação de incidentes via Telegram; sincronização de backups por rsync.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 operacional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4638658" y="964489"/>
            <a:ext cx="4105305" cy="691328"/>
          </a:xfrm>
          <a:prstGeom prst="roundRect">
            <a:avLst>
              <a:gd name="adj" fmla="val 8267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4778597" y="1094920"/>
            <a:ext cx="4207968" cy="2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2100"/>
              <a:buFont typeface="Arial"/>
              <a:buNone/>
            </a:pPr>
            <a:r>
              <a:rPr lang="en-US" sz="11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CPD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4778597" y="1399708"/>
            <a:ext cx="4207968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F2E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migração concluída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4638658" y="1741522"/>
            <a:ext cx="4105305" cy="691327"/>
          </a:xfrm>
          <a:prstGeom prst="roundRect">
            <a:avLst>
              <a:gd name="adj" fmla="val 8267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4778597" y="1871953"/>
            <a:ext cx="4207968" cy="2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2100"/>
              <a:buFont typeface="Arial"/>
              <a:buNone/>
            </a:pPr>
            <a:r>
              <a:rPr lang="en-US" sz="11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4778597" y="2176741"/>
            <a:ext cx="4207968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F2E"/>
              </a:buClr>
              <a:buSzPts val="9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r>
              <a:rPr lang="en-US" sz="1100" b="0" i="0" u="none" strike="noStrike" cap="none" dirty="0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1100" b="0" i="0" u="none" strike="noStrike" cap="none" dirty="0" err="1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preparação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4638650" y="2518547"/>
            <a:ext cx="4105200" cy="868500"/>
          </a:xfrm>
          <a:prstGeom prst="roundRect">
            <a:avLst>
              <a:gd name="adj" fmla="val 11956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4759572" y="2610894"/>
            <a:ext cx="3986635" cy="31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Resultado: infraestrutura migrada e métricas organizadas para monitoramento e pesquisa.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3" name="Google Shape;63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100000"/>
            <a:ext cx="3950000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2"/>
          <p:cNvSpPr/>
          <p:nvPr/>
        </p:nvSpPr>
        <p:spPr>
          <a:xfrm>
            <a:off x="400027" y="367962"/>
            <a:ext cx="631512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485752" y="406062"/>
            <a:ext cx="498162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1107736" y="285745"/>
            <a:ext cx="3374975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1107736" y="413928"/>
            <a:ext cx="3374975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Pesquisa Científica — Agosto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400028" y="759721"/>
            <a:ext cx="2711463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530458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549022" y="1072570"/>
            <a:ext cx="2470137" cy="95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e apresentação do trabalho no SEGE 2026; análise PRODIST versus saída do ML/DL.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3216263" y="759721"/>
            <a:ext cx="2711462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3346695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3365258" y="1072570"/>
            <a:ext cx="2470137" cy="53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6032500" y="759721"/>
            <a:ext cx="2711463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6162931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6181494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6181495" y="1516822"/>
            <a:ext cx="26676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6181501" y="1807750"/>
            <a:ext cx="24702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6176970" y="2256251"/>
            <a:ext cx="26676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400028" y="4357848"/>
            <a:ext cx="8343935" cy="357032"/>
          </a:xfrm>
          <a:prstGeom prst="roundRect">
            <a:avLst>
              <a:gd name="adj" fmla="val 16007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530467" y="4459713"/>
            <a:ext cx="8333374" cy="17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testes dos agentes, Artigo 04 e ajustes do IECON avançaram no mês.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200000"/>
            <a:ext cx="3950000" cy="2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PROPRIEDADE INTELECTUAL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2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Evidências da Implementação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400028" y="819123"/>
            <a:ext cx="8343935" cy="435994"/>
          </a:xfrm>
          <a:prstGeom prst="roundRect">
            <a:avLst>
              <a:gd name="adj" fmla="val 13108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523853" y="904848"/>
            <a:ext cx="8346603" cy="283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 PI: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SEGE 2026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concluída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 IECON em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04 em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400028" y="1359891"/>
            <a:ext cx="4129102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530458" y="1471279"/>
            <a:ext cx="3227152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Revisão de Literatura e Estado da Arte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530458" y="1651578"/>
            <a:ext cx="302178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Literatura sobre dados meteorológicos, medições de energia e modelos de referência.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3540430" y="1471280"/>
            <a:ext cx="858268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3597575" y="1495111"/>
            <a:ext cx="782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4614835" y="1359891"/>
            <a:ext cx="4129127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3"/>
          <p:cNvSpPr/>
          <p:nvPr/>
        </p:nvSpPr>
        <p:spPr>
          <a:xfrm>
            <a:off x="4745266" y="1471279"/>
            <a:ext cx="3227181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Regulamentos e Normas Nacionais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4745266" y="1651578"/>
            <a:ext cx="3021815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da ABNT NBR 16968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solicitada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pelo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Ofício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004/2026 em 19/08.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7755263" y="1471280"/>
            <a:ext cx="858268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3"/>
          <p:cNvSpPr/>
          <p:nvPr/>
        </p:nvSpPr>
        <p:spPr>
          <a:xfrm>
            <a:off x="7812425" y="1495110"/>
            <a:ext cx="782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400028" y="3075471"/>
            <a:ext cx="4129102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530458" y="3186860"/>
            <a:ext cx="3227152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Escrita Acadêmica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530458" y="3367159"/>
            <a:ext cx="302178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SEGE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revisada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; IECON em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ajuste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04 em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3540430" y="3186860"/>
            <a:ext cx="858268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3597580" y="3210672"/>
            <a:ext cx="782068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4614835" y="3075471"/>
            <a:ext cx="4129127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4745266" y="3186860"/>
            <a:ext cx="3431677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Registro de Software / 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4745266" y="3367159"/>
            <a:ext cx="321329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Registro de software e proteção dos resultados permanecem planejados.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7941169" y="3186860"/>
            <a:ext cx="672362" cy="15342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7998319" y="3210672"/>
            <a:ext cx="596162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PLANEJADO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4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GESTÃO DE RISCOS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Matriz de Risco — Análise e Mitigação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400028" y="809589"/>
            <a:ext cx="8343935" cy="223811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457177" y="861976"/>
            <a:ext cx="230267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4"/>
          <p:cNvSpPr/>
          <p:nvPr/>
        </p:nvSpPr>
        <p:spPr>
          <a:xfrm>
            <a:off x="763645" y="861976"/>
            <a:ext cx="2051815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/>
          <p:nvPr/>
        </p:nvSpPr>
        <p:spPr>
          <a:xfrm>
            <a:off x="2847619" y="861976"/>
            <a:ext cx="381498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4"/>
          <p:cNvSpPr/>
          <p:nvPr/>
        </p:nvSpPr>
        <p:spPr>
          <a:xfrm>
            <a:off x="3324366" y="861976"/>
            <a:ext cx="3695510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Estratégia de Mitigação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7023210" y="861976"/>
            <a:ext cx="898418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4"/>
          <p:cNvSpPr/>
          <p:nvPr/>
        </p:nvSpPr>
        <p:spPr>
          <a:xfrm>
            <a:off x="7997828" y="861976"/>
            <a:ext cx="727085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400028" y="1365111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457177" y="1081025"/>
            <a:ext cx="230267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763645" y="1081025"/>
            <a:ext cx="2051815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Qualidade e disponibilidade dos dados AMI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2847619" y="1081025"/>
            <a:ext cx="381498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3324366" y="1081025"/>
            <a:ext cx="3695510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Dados sintéticos avaliados com variáveis meteorológicas.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7023210" y="1081025"/>
            <a:ext cx="898418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Sales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7997806" y="1139698"/>
            <a:ext cx="523844" cy="13399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4"/>
          <p:cNvSpPr/>
          <p:nvPr/>
        </p:nvSpPr>
        <p:spPr>
          <a:xfrm>
            <a:off x="8045431" y="1158748"/>
            <a:ext cx="480979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MITIGADO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400028" y="1368418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400028" y="1701783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457177" y="1416043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763645" y="1416043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Complexidade dos modelos de Deep Learning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2847619" y="1416043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3324366" y="1416043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multiclasse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contratos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de 10 classes.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7023210" y="1416043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/ Gabriel / Andrei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7997806" y="1476370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8045431" y="1495420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400028" y="191939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457177" y="1752715"/>
            <a:ext cx="230267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763645" y="1752715"/>
            <a:ext cx="2051815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Complexidade da integração via MCP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2847619" y="1752715"/>
            <a:ext cx="381498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3324366" y="1752715"/>
            <a:ext cx="3695510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MCP indisponível no parcial; frontend pronto para reconexão.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4"/>
          <p:cNvSpPr/>
          <p:nvPr/>
        </p:nvSpPr>
        <p:spPr>
          <a:xfrm>
            <a:off x="7023210" y="1752715"/>
            <a:ext cx="898418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4"/>
          <p:cNvSpPr/>
          <p:nvPr/>
        </p:nvSpPr>
        <p:spPr>
          <a:xfrm>
            <a:off x="7997806" y="1753511"/>
            <a:ext cx="523844" cy="13399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8045431" y="1772561"/>
            <a:ext cx="480979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MITIGADO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400028" y="1922699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400028" y="225606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4"/>
          <p:cNvSpPr/>
          <p:nvPr/>
        </p:nvSpPr>
        <p:spPr>
          <a:xfrm>
            <a:off x="457177" y="1970324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763645" y="1970324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Escalabilidade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2847619" y="1970324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3324366" y="1970324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Migração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do CPD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concluída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; backups e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4"/>
          <p:cNvSpPr/>
          <p:nvPr/>
        </p:nvSpPr>
        <p:spPr>
          <a:xfrm>
            <a:off x="7023210" y="1970324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7997806" y="2030651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8045431" y="2049701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400028" y="259273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4"/>
          <p:cNvSpPr/>
          <p:nvPr/>
        </p:nvSpPr>
        <p:spPr>
          <a:xfrm>
            <a:off x="457177" y="2306996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763645" y="2306996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especialistas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IA/LLM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4"/>
          <p:cNvSpPr/>
          <p:nvPr/>
        </p:nvSpPr>
        <p:spPr>
          <a:xfrm>
            <a:off x="2847619" y="2306996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4"/>
          <p:cNvSpPr/>
          <p:nvPr/>
        </p:nvSpPr>
        <p:spPr>
          <a:xfrm>
            <a:off x="3324366" y="2306996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mobilizada e processo de seleção acompanhado pela coordenação.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7023210" y="2306996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/ IFAM-Polo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4"/>
          <p:cNvSpPr/>
          <p:nvPr/>
        </p:nvSpPr>
        <p:spPr>
          <a:xfrm>
            <a:off x="7997806" y="2367323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4"/>
          <p:cNvSpPr/>
          <p:nvPr/>
        </p:nvSpPr>
        <p:spPr>
          <a:xfrm>
            <a:off x="8045431" y="2386373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4"/>
          <p:cNvSpPr/>
          <p:nvPr/>
        </p:nvSpPr>
        <p:spPr>
          <a:xfrm>
            <a:off x="400028" y="2596043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4"/>
          <p:cNvSpPr/>
          <p:nvPr/>
        </p:nvSpPr>
        <p:spPr>
          <a:xfrm>
            <a:off x="400028" y="2929408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457177" y="2643668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4"/>
          <p:cNvSpPr/>
          <p:nvPr/>
        </p:nvSpPr>
        <p:spPr>
          <a:xfrm>
            <a:off x="763645" y="2643668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Atraso na liberação de recursos financeiros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4"/>
          <p:cNvSpPr/>
          <p:nvPr/>
        </p:nvSpPr>
        <p:spPr>
          <a:xfrm>
            <a:off x="2847619" y="2643668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4"/>
          <p:cNvSpPr/>
          <p:nvPr/>
        </p:nvSpPr>
        <p:spPr>
          <a:xfrm>
            <a:off x="3324366" y="2643668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5 parcelas recebidas; parcelas 05 e 07 continuam pendentes.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7023210" y="2643668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Sales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7997806" y="2703995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8045431" y="2723045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4"/>
          <p:cNvSpPr/>
          <p:nvPr/>
        </p:nvSpPr>
        <p:spPr>
          <a:xfrm>
            <a:off x="400028" y="3266080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457177" y="2980340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R08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4"/>
          <p:cNvSpPr/>
          <p:nvPr/>
        </p:nvSpPr>
        <p:spPr>
          <a:xfrm>
            <a:off x="763645" y="2980340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Consumo energético e capacidade de hardware </a:t>
            </a:r>
            <a:r>
              <a:rPr lang="en-US" sz="8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(novo)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2847619" y="2980340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3324366" y="2980340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Métricas de VRAM, energia, CPU e GPU incorporadas ao monitoramento.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7023210" y="2980340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José Max / DevOps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7997806" y="3040667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8045431" y="3059717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400028" y="3337703"/>
            <a:ext cx="917832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Exp. = Exposição ao risco (Alto / Médio / Baixo), combinando probabilidade e impacto.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15" descr="preencoded.png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286489" y="3368709"/>
            <a:ext cx="3047979" cy="191763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15"/>
          <p:cNvSpPr/>
          <p:nvPr/>
        </p:nvSpPr>
        <p:spPr>
          <a:xfrm>
            <a:off x="523870" y="1742168"/>
            <a:ext cx="8339137" cy="65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457203" y="1101675"/>
            <a:ext cx="82296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Reuniões técnicas e gerenciais com líderes e equipes.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Consolidação e apresentação dos resultados das Sprints 13 e 14.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Revisão e envio do Relatório Descritivo Anual 2025 à empresa para prestação de contas e SAGAT.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Solicitação de aquisição da ABNT NBR 16968 pelo Ofício 004/2026, de 19/08.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Acompanhamento da migração do CPD, riscos, cronograma e evidências.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Revisão da apresentação e participação no SEGE 2026.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Atualização do acompanhamento financeiro e dos instrumentos de gestão.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523870" y="3283314"/>
            <a:ext cx="4063783" cy="336000"/>
          </a:xfrm>
          <a:prstGeom prst="roundRect">
            <a:avLst>
              <a:gd name="adj" fmla="val 17009"/>
            </a:avLst>
          </a:prstGeom>
          <a:solidFill>
            <a:srgbClr val="FFFFFF">
              <a:alpha val="10196"/>
            </a:srgbClr>
          </a:solidFill>
          <a:ln w="13225" cap="flat" cmpd="sng">
            <a:solidFill>
              <a:srgbClr val="FFFFFF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403107" y="3413299"/>
            <a:ext cx="21336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8C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Fontes: Sprints 13 e 14, extrato do projeto e Ofício 004/2026.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2189036" y="3385175"/>
            <a:ext cx="47391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 txBox="1">
            <a:spLocks noGrp="1"/>
          </p:cNvSpPr>
          <p:nvPr>
            <p:ph type="title"/>
          </p:nvPr>
        </p:nvSpPr>
        <p:spPr>
          <a:xfrm>
            <a:off x="457200" y="-857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Gestão</a:t>
            </a:r>
            <a:endParaRPr/>
          </a:p>
        </p:txBody>
      </p:sp>
      <p:sp>
        <p:nvSpPr>
          <p:cNvPr id="773" name="Google Shape;773;p15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6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6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Encaminhamentos Gerais — Próximo Ciclo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400028" y="838166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6"/>
          <p:cNvSpPr/>
          <p:nvPr/>
        </p:nvSpPr>
        <p:spPr>
          <a:xfrm>
            <a:off x="530458" y="940020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587609" y="973358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1502002" y="954076"/>
            <a:ext cx="5232469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Concluir a Sprint 14 e estabilizar a integração com o backend real.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400028" y="1300489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6"/>
          <p:cNvSpPr/>
          <p:nvPr/>
        </p:nvSpPr>
        <p:spPr>
          <a:xfrm>
            <a:off x="530458" y="1402344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587609" y="1435681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6"/>
          <p:cNvSpPr/>
          <p:nvPr/>
        </p:nvSpPr>
        <p:spPr>
          <a:xfrm>
            <a:off x="1502002" y="1416400"/>
            <a:ext cx="6485483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Finalizar ingestão manual, autenticação e integração com MCP.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400028" y="1762812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6"/>
          <p:cNvSpPr/>
          <p:nvPr/>
        </p:nvSpPr>
        <p:spPr>
          <a:xfrm>
            <a:off x="530458" y="1864667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587609" y="1898004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/ DL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1502002" y="1878722"/>
            <a:ext cx="5479030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Incorporar dados meteorológicos e preparar MLflow.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400028" y="2225136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530458" y="2326990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587609" y="2360327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1502002" y="2341046"/>
            <a:ext cx="4241989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Executar testes dos agentes e restabelecer o MCP.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6"/>
          <p:cNvSpPr/>
          <p:nvPr/>
        </p:nvSpPr>
        <p:spPr>
          <a:xfrm>
            <a:off x="400028" y="2687459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530458" y="2789313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587609" y="2822651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1502002" y="2803368"/>
            <a:ext cx="5814950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Finalizar ajustes do IECON, Artigo 04 e mapa da NBR 16968.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7"/>
          <p:cNvSpPr txBox="1"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Obrigado</a:t>
            </a:r>
            <a:endParaRPr/>
          </a:p>
        </p:txBody>
      </p:sp>
      <p:sp>
        <p:nvSpPr>
          <p:cNvPr id="806" name="Google Shape;806;p17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 b="1"/>
          </a:p>
        </p:txBody>
      </p:sp>
      <p:pic>
        <p:nvPicPr>
          <p:cNvPr id="807" name="Google Shape;80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3888" y="4797780"/>
            <a:ext cx="658416" cy="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8"/>
          <p:cNvSpPr/>
          <p:nvPr/>
        </p:nvSpPr>
        <p:spPr>
          <a:xfrm>
            <a:off x="0" y="-14537"/>
            <a:ext cx="9144000" cy="51435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p18"/>
          <p:cNvPicPr preferRelativeResize="0"/>
          <p:nvPr/>
        </p:nvPicPr>
        <p:blipFill rotWithShape="1">
          <a:blip r:embed="rId3">
            <a:alphaModFix/>
          </a:blip>
          <a:srcRect b="22389"/>
          <a:stretch/>
        </p:blipFill>
        <p:spPr>
          <a:xfrm>
            <a:off x="3456319" y="606994"/>
            <a:ext cx="2009249" cy="155795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8"/>
          <p:cNvSpPr txBox="1"/>
          <p:nvPr/>
        </p:nvSpPr>
        <p:spPr>
          <a:xfrm>
            <a:off x="3819694" y="2164950"/>
            <a:ext cx="128250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DE INOVAÇÃO</a:t>
            </a:r>
            <a:endParaRPr sz="105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3648131" y="3147188"/>
            <a:ext cx="1625625" cy="39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</a:t>
            </a:r>
            <a:r>
              <a:rPr lang="en-US" sz="82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ção </a:t>
            </a: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projetos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Polo de Inovação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3120056" y="4536507"/>
            <a:ext cx="2681775" cy="2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Construindo juntos a inovação!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2134</Words>
  <Application>Microsoft Office PowerPoint</Application>
  <PresentationFormat>Apresentação na tela (16:9)</PresentationFormat>
  <Paragraphs>406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Courier New</vt:lpstr>
      <vt:lpstr>Calibri</vt:lpstr>
      <vt:lpstr>Tema do Office</vt:lpstr>
      <vt:lpstr>Polo de Inovação Manaus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Gestão</vt:lpstr>
      <vt:lpstr>Apresentação do PowerPoint</vt:lpstr>
      <vt:lpstr>Obrigado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Geziel Sena Colares</cp:lastModifiedBy>
  <cp:revision>4</cp:revision>
  <dcterms:modified xsi:type="dcterms:W3CDTF">2026-10-06T21:47:38Z</dcterms:modified>
</cp:coreProperties>
</file>